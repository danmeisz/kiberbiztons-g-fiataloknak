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D8"/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95283" y="1576840"/>
            <a:ext cx="8896488" cy="1470025"/>
          </a:xfrm>
        </p:spPr>
        <p:txBody>
          <a:bodyPr/>
          <a:lstStyle>
            <a:lvl1pPr>
              <a:defRPr sz="4800">
                <a:solidFill>
                  <a:srgbClr val="00B4D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95282" y="3233750"/>
            <a:ext cx="8896489" cy="17526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42107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59853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9853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561800"/>
            <a:ext cx="4040188" cy="639762"/>
          </a:xfrm>
        </p:spPr>
        <p:txBody>
          <a:bodyPr anchor="ctr"/>
          <a:lstStyle>
            <a:lvl1pPr marL="0" indent="0" algn="l">
              <a:buNone/>
              <a:defRPr sz="2400" b="1">
                <a:solidFill>
                  <a:srgbClr val="00B4D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1200" y="220156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69025" y="1561800"/>
            <a:ext cx="4041775" cy="639762"/>
          </a:xfrm>
        </p:spPr>
        <p:txBody>
          <a:bodyPr anchor="ctr"/>
          <a:lstStyle>
            <a:lvl1pPr marL="0" indent="0" algn="l">
              <a:buNone/>
              <a:defRPr sz="2400" b="1">
                <a:solidFill>
                  <a:srgbClr val="00B4D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9025" y="220156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03944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39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Meisz/Kiberbiztonsag-fiataloknak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E20D76-0A1D-F78F-6D5D-8F636EDE1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NetBiztos</a:t>
            </a:r>
            <a:br>
              <a:rPr lang="hu-HU" dirty="0"/>
            </a:br>
            <a:r>
              <a:rPr lang="hu-HU" sz="3100" dirty="0" err="1">
                <a:solidFill>
                  <a:schemeClr val="bg1"/>
                </a:solidFill>
              </a:rPr>
              <a:t>Kiberbiztonság</a:t>
            </a:r>
            <a:r>
              <a:rPr lang="hu-HU" sz="3100" dirty="0">
                <a:solidFill>
                  <a:schemeClr val="bg1"/>
                </a:solidFill>
              </a:rPr>
              <a:t> és Digitális Tudatosság Fiataloknak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BD215F3-12F3-3F52-151D-27ABB144C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283" y="3167005"/>
            <a:ext cx="9964402" cy="175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hu-HU" sz="1800" dirty="0"/>
              <a:t>IKT Projektmunka I. – Osztályozó vizsga házi dolgozat (1/13Sz.)</a:t>
            </a:r>
          </a:p>
          <a:p>
            <a:r>
              <a:rPr lang="hu-HU" sz="1800" dirty="0">
                <a:solidFill>
                  <a:schemeClr val="bg1"/>
                </a:solidFill>
              </a:rPr>
              <a:t>Készítette: Magyar Bálint, Csatlós Maja, </a:t>
            </a:r>
            <a:r>
              <a:rPr lang="hu-HU" sz="1800" dirty="0" err="1">
                <a:solidFill>
                  <a:schemeClr val="bg1"/>
                </a:solidFill>
              </a:rPr>
              <a:t>Meiszterics</a:t>
            </a:r>
            <a:r>
              <a:rPr lang="hu-HU" sz="1800" dirty="0">
                <a:solidFill>
                  <a:schemeClr val="bg1"/>
                </a:solidFill>
              </a:rPr>
              <a:t> Dániel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7138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/>
      </p:transition>
    </mc:Choice>
    <mc:Fallback xmlns="">
      <p:transition spd="slow">
        <p:cov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81B1CC-907C-AD17-9B99-5CA67607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1. A Projekt Célja és Célközönsége</a:t>
            </a:r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42737A56-CF18-AD6E-1A4F-D89C9FD95BFA}"/>
              </a:ext>
            </a:extLst>
          </p:cNvPr>
          <p:cNvGrpSpPr/>
          <p:nvPr/>
        </p:nvGrpSpPr>
        <p:grpSpPr>
          <a:xfrm>
            <a:off x="731520" y="1463040"/>
            <a:ext cx="5120640" cy="4754880"/>
            <a:chOff x="731520" y="1463040"/>
            <a:chExt cx="5120640" cy="4754880"/>
          </a:xfrm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489C91DC-969D-7241-7C54-3F3E13131B5C}"/>
                </a:ext>
              </a:extLst>
            </p:cNvPr>
            <p:cNvSpPr/>
            <p:nvPr/>
          </p:nvSpPr>
          <p:spPr>
            <a:xfrm>
              <a:off x="7315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04C90CB2-00BC-51AC-B2B3-C702B2A8855A}"/>
                </a:ext>
              </a:extLst>
            </p:cNvPr>
            <p:cNvSpPr txBox="1"/>
            <p:nvPr/>
          </p:nvSpPr>
          <p:spPr>
            <a:xfrm>
              <a:off x="960120" y="1645920"/>
              <a:ext cx="4663440" cy="2231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77B6"/>
                  </a:solidFill>
                </a:defRPr>
              </a:pPr>
              <a:r>
                <a:rPr lang="hu-HU" dirty="0">
                  <a:solidFill>
                    <a:srgbClr val="00B4D8"/>
                  </a:solidFill>
                </a:rPr>
                <a:t>A Projekt Céljai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10–18 </a:t>
              </a:r>
              <a:r>
                <a:rPr dirty="0" err="1"/>
                <a:t>éves</a:t>
              </a:r>
              <a:r>
                <a:rPr dirty="0"/>
                <a:t> </a:t>
              </a:r>
              <a:r>
                <a:rPr dirty="0" err="1"/>
                <a:t>korosztály</a:t>
              </a:r>
              <a:r>
                <a:rPr dirty="0"/>
                <a:t> </a:t>
              </a:r>
              <a:r>
                <a:rPr dirty="0" err="1"/>
                <a:t>digitális</a:t>
              </a:r>
              <a:r>
                <a:rPr dirty="0"/>
                <a:t> </a:t>
              </a:r>
              <a:r>
                <a:rPr dirty="0" err="1"/>
                <a:t>biztonságtudatosságának</a:t>
              </a:r>
              <a:r>
                <a:rPr dirty="0"/>
                <a:t> </a:t>
              </a:r>
              <a:r>
                <a:rPr dirty="0" err="1"/>
                <a:t>fejlesztése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Gyakorlati</a:t>
              </a:r>
              <a:r>
                <a:rPr dirty="0"/>
                <a:t> </a:t>
              </a:r>
              <a:r>
                <a:rPr dirty="0" err="1"/>
                <a:t>kiberhigiéniai</a:t>
              </a:r>
              <a:r>
                <a:rPr dirty="0"/>
                <a:t> </a:t>
              </a:r>
              <a:r>
                <a:rPr dirty="0" err="1"/>
                <a:t>ismeretek</a:t>
              </a:r>
              <a:r>
                <a:rPr dirty="0"/>
                <a:t> </a:t>
              </a:r>
              <a:r>
                <a:rPr dirty="0" err="1"/>
                <a:t>átadása</a:t>
              </a:r>
              <a:r>
                <a:rPr dirty="0"/>
                <a:t> a </a:t>
              </a:r>
              <a:r>
                <a:rPr dirty="0" err="1"/>
                <a:t>mindennapi</a:t>
              </a:r>
              <a:r>
                <a:rPr dirty="0"/>
                <a:t> </a:t>
              </a:r>
              <a:r>
                <a:rPr dirty="0" err="1"/>
                <a:t>platformokon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Interaktív</a:t>
              </a:r>
              <a:r>
                <a:rPr dirty="0"/>
                <a:t>, modern, 4 </a:t>
              </a:r>
              <a:r>
                <a:rPr dirty="0" err="1"/>
                <a:t>oldalas</a:t>
              </a:r>
              <a:r>
                <a:rPr dirty="0"/>
                <a:t> Bootstrap </a:t>
              </a:r>
              <a:r>
                <a:rPr dirty="0" err="1"/>
                <a:t>weboldal</a:t>
              </a:r>
              <a:r>
                <a:rPr dirty="0"/>
                <a:t> </a:t>
              </a:r>
              <a:r>
                <a:rPr dirty="0" err="1"/>
                <a:t>létrehozása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6 </a:t>
              </a:r>
              <a:r>
                <a:rPr dirty="0" err="1"/>
                <a:t>oldalas</a:t>
              </a:r>
              <a:r>
                <a:rPr dirty="0"/>
                <a:t> </a:t>
              </a:r>
              <a:r>
                <a:rPr dirty="0" err="1"/>
                <a:t>nyomtatható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digitális</a:t>
              </a:r>
              <a:r>
                <a:rPr dirty="0"/>
                <a:t> </a:t>
              </a:r>
              <a:r>
                <a:rPr dirty="0" err="1"/>
                <a:t>segédlet</a:t>
              </a:r>
              <a:r>
                <a:rPr dirty="0"/>
                <a:t> (PDF </a:t>
              </a:r>
              <a:r>
                <a:rPr dirty="0" err="1"/>
                <a:t>kiadvány</a:t>
              </a:r>
              <a:r>
                <a:rPr dirty="0"/>
                <a:t>) </a:t>
              </a:r>
              <a:r>
                <a:rPr dirty="0" err="1"/>
                <a:t>kiadása</a:t>
              </a:r>
              <a:r>
                <a:rPr dirty="0"/>
                <a:t>.</a:t>
              </a:r>
            </a:p>
          </p:txBody>
        </p:sp>
      </p:grp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DD734D82-1A77-65DC-5193-C6CE37FFEB97}"/>
              </a:ext>
            </a:extLst>
          </p:cNvPr>
          <p:cNvGrpSpPr/>
          <p:nvPr/>
        </p:nvGrpSpPr>
        <p:grpSpPr>
          <a:xfrm>
            <a:off x="6217920" y="1463040"/>
            <a:ext cx="5120640" cy="4754880"/>
            <a:chOff x="6217920" y="1463040"/>
            <a:chExt cx="5120640" cy="4754880"/>
          </a:xfrm>
        </p:grpSpPr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9F4032DE-450F-B1AE-6CE3-FEF9A9C3F608}"/>
                </a:ext>
              </a:extLst>
            </p:cNvPr>
            <p:cNvSpPr/>
            <p:nvPr/>
          </p:nvSpPr>
          <p:spPr>
            <a:xfrm>
              <a:off x="62179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082D69DB-C639-B870-EBDF-D34830D2A109}"/>
                </a:ext>
              </a:extLst>
            </p:cNvPr>
            <p:cNvSpPr txBox="1"/>
            <p:nvPr/>
          </p:nvSpPr>
          <p:spPr>
            <a:xfrm>
              <a:off x="6446520" y="1645920"/>
              <a:ext cx="466344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B4D8"/>
                  </a:solidFill>
                </a:defRPr>
              </a:pPr>
              <a:r>
                <a:rPr dirty="0" err="1">
                  <a:solidFill>
                    <a:srgbClr val="00B4D8"/>
                  </a:solidFill>
                </a:rPr>
                <a:t>Célközönség</a:t>
              </a:r>
              <a:r>
                <a:rPr dirty="0"/>
                <a:t> </a:t>
              </a:r>
              <a:r>
                <a:rPr dirty="0" err="1"/>
                <a:t>Meghatározása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Elsődleges</a:t>
              </a:r>
              <a:r>
                <a:rPr dirty="0"/>
                <a:t> </a:t>
              </a:r>
              <a:r>
                <a:rPr dirty="0" err="1"/>
                <a:t>csoport</a:t>
              </a:r>
              <a:r>
                <a:rPr dirty="0"/>
                <a:t>: </a:t>
              </a:r>
              <a:r>
                <a:rPr dirty="0" err="1"/>
                <a:t>Tizenéves</a:t>
              </a:r>
              <a:r>
                <a:rPr dirty="0"/>
                <a:t> </a:t>
              </a:r>
              <a:r>
                <a:rPr dirty="0" err="1"/>
                <a:t>diákok</a:t>
              </a:r>
              <a:r>
                <a:rPr dirty="0"/>
                <a:t>, </a:t>
              </a:r>
              <a:r>
                <a:rPr dirty="0" err="1"/>
                <a:t>fiatal</a:t>
              </a:r>
              <a:r>
                <a:rPr dirty="0"/>
                <a:t> </a:t>
              </a:r>
              <a:r>
                <a:rPr dirty="0" err="1"/>
                <a:t>gamerek</a:t>
              </a:r>
              <a:r>
                <a:rPr dirty="0"/>
                <a:t> (Steam, Discord).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Közösségi</a:t>
              </a:r>
              <a:r>
                <a:rPr dirty="0"/>
                <a:t> </a:t>
              </a:r>
              <a:r>
                <a:rPr dirty="0" err="1"/>
                <a:t>média</a:t>
              </a:r>
              <a:r>
                <a:rPr dirty="0"/>
                <a:t> </a:t>
              </a:r>
              <a:r>
                <a:rPr dirty="0" err="1"/>
                <a:t>aktív</a:t>
              </a:r>
              <a:r>
                <a:rPr dirty="0"/>
                <a:t> </a:t>
              </a:r>
              <a:r>
                <a:rPr dirty="0" err="1"/>
                <a:t>felhasználói</a:t>
              </a:r>
              <a:r>
                <a:rPr dirty="0"/>
                <a:t> (TikTok, Instagram, Snapchat).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Másodlagos</a:t>
              </a:r>
              <a:r>
                <a:rPr dirty="0"/>
                <a:t> </a:t>
              </a:r>
              <a:r>
                <a:rPr dirty="0" err="1"/>
                <a:t>csoport</a:t>
              </a:r>
              <a:r>
                <a:rPr dirty="0"/>
                <a:t>: </a:t>
              </a:r>
              <a:r>
                <a:rPr dirty="0" err="1"/>
                <a:t>Pedagógusok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szülők</a:t>
              </a:r>
              <a:r>
                <a:rPr dirty="0"/>
                <a:t> </a:t>
              </a:r>
              <a:r>
                <a:rPr dirty="0" err="1"/>
                <a:t>oktatási</a:t>
              </a:r>
              <a:r>
                <a:rPr dirty="0"/>
                <a:t> </a:t>
              </a:r>
              <a:r>
                <a:rPr dirty="0" err="1"/>
                <a:t>segédanyagként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Fő</a:t>
              </a:r>
              <a:r>
                <a:rPr dirty="0"/>
                <a:t> </a:t>
              </a:r>
              <a:r>
                <a:rPr dirty="0" err="1"/>
                <a:t>üzenet</a:t>
              </a:r>
              <a:r>
                <a:rPr dirty="0"/>
                <a:t>: A </a:t>
              </a:r>
              <a:r>
                <a:rPr dirty="0" err="1"/>
                <a:t>digitális</a:t>
              </a:r>
              <a:r>
                <a:rPr dirty="0"/>
                <a:t> </a:t>
              </a:r>
              <a:r>
                <a:rPr dirty="0" err="1"/>
                <a:t>védelem</a:t>
              </a:r>
              <a:r>
                <a:rPr dirty="0"/>
                <a:t> </a:t>
              </a:r>
              <a:r>
                <a:rPr dirty="0" err="1"/>
                <a:t>egyszerű</a:t>
              </a:r>
              <a:r>
                <a:rPr dirty="0"/>
                <a:t> </a:t>
              </a:r>
              <a:r>
                <a:rPr dirty="0" err="1"/>
                <a:t>szokásokkal</a:t>
              </a:r>
              <a:r>
                <a:rPr dirty="0"/>
                <a:t> </a:t>
              </a:r>
              <a:r>
                <a:rPr dirty="0" err="1"/>
                <a:t>elérhető</a:t>
              </a:r>
              <a:r>
                <a:rPr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9826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EA4840-EE9C-3BA4-693E-AEED49C0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2. Csoporttagok és Feladatmegosztás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00BB2562-8C49-F4F6-8AF8-A99B83BF5166}"/>
              </a:ext>
            </a:extLst>
          </p:cNvPr>
          <p:cNvGrpSpPr/>
          <p:nvPr/>
        </p:nvGrpSpPr>
        <p:grpSpPr>
          <a:xfrm>
            <a:off x="731520" y="1463040"/>
            <a:ext cx="3291840" cy="4754880"/>
            <a:chOff x="731520" y="1463040"/>
            <a:chExt cx="3291840" cy="4754880"/>
          </a:xfrm>
        </p:grpSpPr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5A2D57FB-0790-0D66-5AD2-3B75598497E7}"/>
                </a:ext>
              </a:extLst>
            </p:cNvPr>
            <p:cNvSpPr/>
            <p:nvPr/>
          </p:nvSpPr>
          <p:spPr>
            <a:xfrm>
              <a:off x="731520" y="1463040"/>
              <a:ext cx="32918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4D32373E-DC56-E5AD-9274-C8A87F7FF103}"/>
                </a:ext>
              </a:extLst>
            </p:cNvPr>
            <p:cNvSpPr txBox="1"/>
            <p:nvPr/>
          </p:nvSpPr>
          <p:spPr>
            <a:xfrm>
              <a:off x="960120" y="1645920"/>
              <a:ext cx="2834640" cy="2231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77B6"/>
                  </a:solidFill>
                </a:defRPr>
              </a:pPr>
              <a:r>
                <a:rPr dirty="0">
                  <a:solidFill>
                    <a:srgbClr val="00B4D8"/>
                  </a:solidFill>
                </a:rPr>
                <a:t>Magyar Bálint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Frontend </a:t>
              </a:r>
              <a:r>
                <a:rPr dirty="0" err="1"/>
                <a:t>fejlesztő</a:t>
              </a:r>
              <a:r>
                <a:rPr dirty="0"/>
                <a:t> &amp; </a:t>
              </a:r>
              <a:r>
                <a:rPr dirty="0" err="1"/>
                <a:t>Tartalomfelelős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Bootstrap 5 </a:t>
              </a:r>
              <a:r>
                <a:rPr dirty="0" err="1"/>
                <a:t>keretrendszer</a:t>
              </a:r>
              <a:r>
                <a:rPr dirty="0"/>
                <a:t> </a:t>
              </a:r>
              <a:r>
                <a:rPr dirty="0" err="1"/>
                <a:t>integrálása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index.html </a:t>
              </a:r>
              <a:r>
                <a:rPr dirty="0" err="1"/>
                <a:t>és</a:t>
              </a:r>
              <a:r>
                <a:rPr dirty="0"/>
                <a:t> passwords.html </a:t>
              </a:r>
              <a:r>
                <a:rPr dirty="0" err="1"/>
                <a:t>oldalak</a:t>
              </a:r>
              <a:r>
                <a:rPr dirty="0"/>
                <a:t> </a:t>
              </a:r>
              <a:r>
                <a:rPr dirty="0" err="1"/>
                <a:t>kódolása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Szakmai</a:t>
              </a:r>
              <a:r>
                <a:rPr dirty="0"/>
                <a:t> </a:t>
              </a:r>
              <a:r>
                <a:rPr dirty="0" err="1"/>
                <a:t>forrásanyagok</a:t>
              </a:r>
              <a:r>
                <a:rPr dirty="0"/>
                <a:t> </a:t>
              </a:r>
              <a:r>
                <a:rPr dirty="0" err="1"/>
                <a:t>rendszerezése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jelszóbiztonsági</a:t>
              </a:r>
              <a:r>
                <a:rPr dirty="0"/>
                <a:t> </a:t>
              </a:r>
              <a:r>
                <a:rPr dirty="0" err="1"/>
                <a:t>tanácsok</a:t>
              </a:r>
              <a:r>
                <a:rPr dirty="0"/>
                <a:t>.</a:t>
              </a:r>
            </a:p>
          </p:txBody>
        </p:sp>
      </p:grp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9D4E27A9-6FBE-25EA-ECB5-F0FD1FF1D21E}"/>
              </a:ext>
            </a:extLst>
          </p:cNvPr>
          <p:cNvGrpSpPr/>
          <p:nvPr/>
        </p:nvGrpSpPr>
        <p:grpSpPr>
          <a:xfrm>
            <a:off x="4389120" y="1463040"/>
            <a:ext cx="3291840" cy="4754880"/>
            <a:chOff x="4389120" y="1463040"/>
            <a:chExt cx="3291840" cy="4754880"/>
          </a:xfrm>
        </p:grpSpPr>
        <p:sp>
          <p:nvSpPr>
            <p:cNvPr id="13" name="Rounded Rectangle 5">
              <a:extLst>
                <a:ext uri="{FF2B5EF4-FFF2-40B4-BE49-F238E27FC236}">
                  <a16:creationId xmlns:a16="http://schemas.microsoft.com/office/drawing/2014/main" id="{2BA6298E-2E22-0AAD-2E32-6BDE0B3F87A0}"/>
                </a:ext>
              </a:extLst>
            </p:cNvPr>
            <p:cNvSpPr/>
            <p:nvPr/>
          </p:nvSpPr>
          <p:spPr>
            <a:xfrm>
              <a:off x="4389120" y="1463040"/>
              <a:ext cx="32918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CE4040BD-C8B9-8714-1A64-5F4AD8AE7F82}"/>
                </a:ext>
              </a:extLst>
            </p:cNvPr>
            <p:cNvSpPr txBox="1"/>
            <p:nvPr/>
          </p:nvSpPr>
          <p:spPr>
            <a:xfrm>
              <a:off x="4617720" y="1645920"/>
              <a:ext cx="2834640" cy="2231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B4D8"/>
                  </a:solidFill>
                </a:defRPr>
              </a:pPr>
              <a:r>
                <a:rPr dirty="0">
                  <a:solidFill>
                    <a:srgbClr val="00B4D8"/>
                  </a:solidFill>
                </a:rPr>
                <a:t>Csatlós Maja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Webfejlesztő</a:t>
              </a:r>
              <a:r>
                <a:rPr dirty="0"/>
                <a:t> &amp; Design </a:t>
              </a:r>
              <a:r>
                <a:rPr dirty="0" err="1"/>
                <a:t>felelős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phishing.html </a:t>
              </a:r>
              <a:r>
                <a:rPr dirty="0" err="1"/>
                <a:t>oldal</a:t>
              </a:r>
              <a:r>
                <a:rPr dirty="0"/>
                <a:t> </a:t>
              </a:r>
              <a:r>
                <a:rPr dirty="0" err="1"/>
                <a:t>szövegezése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kódolása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Egységes</a:t>
              </a:r>
              <a:r>
                <a:rPr dirty="0"/>
                <a:t> </a:t>
              </a:r>
              <a:r>
                <a:rPr dirty="0" err="1"/>
                <a:t>vizuális</a:t>
              </a:r>
              <a:r>
                <a:rPr dirty="0"/>
                <a:t> </a:t>
              </a:r>
              <a:r>
                <a:rPr dirty="0" err="1"/>
                <a:t>arculat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színvilág</a:t>
              </a:r>
              <a:r>
                <a:rPr dirty="0"/>
                <a:t> </a:t>
              </a:r>
              <a:r>
                <a:rPr dirty="0" err="1"/>
                <a:t>kialakítása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6 </a:t>
              </a:r>
              <a:r>
                <a:rPr dirty="0" err="1"/>
                <a:t>oldalas</a:t>
              </a:r>
              <a:r>
                <a:rPr dirty="0"/>
                <a:t> </a:t>
              </a:r>
              <a:r>
                <a:rPr dirty="0" err="1"/>
                <a:t>illusztrált</a:t>
              </a:r>
              <a:r>
                <a:rPr dirty="0"/>
                <a:t> PDF </a:t>
              </a:r>
              <a:r>
                <a:rPr dirty="0" err="1"/>
                <a:t>kiadvány</a:t>
              </a:r>
              <a:r>
                <a:rPr dirty="0"/>
                <a:t> </a:t>
              </a:r>
              <a:r>
                <a:rPr dirty="0" err="1"/>
                <a:t>grafikai</a:t>
              </a:r>
              <a:r>
                <a:rPr dirty="0"/>
                <a:t> </a:t>
              </a:r>
              <a:r>
                <a:rPr dirty="0" err="1"/>
                <a:t>megtervezése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tördelése</a:t>
              </a:r>
              <a:r>
                <a:rPr dirty="0"/>
                <a:t>.</a:t>
              </a:r>
            </a:p>
          </p:txBody>
        </p:sp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74D092BA-3510-8E8F-6C4D-868827DB247F}"/>
              </a:ext>
            </a:extLst>
          </p:cNvPr>
          <p:cNvGrpSpPr/>
          <p:nvPr/>
        </p:nvGrpSpPr>
        <p:grpSpPr>
          <a:xfrm>
            <a:off x="8046720" y="1463040"/>
            <a:ext cx="3291840" cy="4754880"/>
            <a:chOff x="8046720" y="1463040"/>
            <a:chExt cx="3291840" cy="4754880"/>
          </a:xfrm>
        </p:grpSpPr>
        <p:sp>
          <p:nvSpPr>
            <p:cNvPr id="16" name="Rounded Rectangle 7">
              <a:extLst>
                <a:ext uri="{FF2B5EF4-FFF2-40B4-BE49-F238E27FC236}">
                  <a16:creationId xmlns:a16="http://schemas.microsoft.com/office/drawing/2014/main" id="{B1304FF8-F66B-EFFF-F459-3FE42EB8A275}"/>
                </a:ext>
              </a:extLst>
            </p:cNvPr>
            <p:cNvSpPr/>
            <p:nvPr/>
          </p:nvSpPr>
          <p:spPr>
            <a:xfrm>
              <a:off x="8046720" y="1463040"/>
              <a:ext cx="32918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249415E5-9F75-5591-6CAD-8539921FFD2B}"/>
                </a:ext>
              </a:extLst>
            </p:cNvPr>
            <p:cNvSpPr txBox="1"/>
            <p:nvPr/>
          </p:nvSpPr>
          <p:spPr>
            <a:xfrm>
              <a:off x="8275320" y="1645920"/>
              <a:ext cx="2834640" cy="24314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1E293B"/>
                  </a:solidFill>
                </a:defRPr>
              </a:pPr>
              <a:r>
                <a:rPr dirty="0" err="1">
                  <a:solidFill>
                    <a:srgbClr val="00B4D8"/>
                  </a:solidFill>
                </a:rPr>
                <a:t>Meiszterics</a:t>
              </a:r>
              <a:r>
                <a:rPr dirty="0">
                  <a:solidFill>
                    <a:srgbClr val="00B4D8"/>
                  </a:solidFill>
                </a:rPr>
                <a:t> Dániel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Webfejlesztő</a:t>
              </a:r>
              <a:r>
                <a:rPr dirty="0"/>
                <a:t> &amp; </a:t>
              </a:r>
              <a:r>
                <a:rPr dirty="0" err="1"/>
                <a:t>Szövegíró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privacy.html </a:t>
              </a:r>
              <a:r>
                <a:rPr dirty="0" err="1"/>
                <a:t>oldal</a:t>
              </a:r>
              <a:r>
                <a:rPr dirty="0"/>
                <a:t> </a:t>
              </a:r>
              <a:r>
                <a:rPr dirty="0" err="1"/>
                <a:t>kódolása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adatvédelmi</a:t>
              </a:r>
              <a:r>
                <a:rPr dirty="0"/>
                <a:t> </a:t>
              </a:r>
              <a:r>
                <a:rPr dirty="0" err="1"/>
                <a:t>szabályok</a:t>
              </a:r>
              <a:r>
                <a:rPr dirty="0"/>
                <a:t> </a:t>
              </a:r>
              <a:r>
                <a:rPr dirty="0" err="1"/>
                <a:t>kidolgozása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10 </a:t>
              </a:r>
              <a:r>
                <a:rPr dirty="0" err="1"/>
                <a:t>diás</a:t>
              </a:r>
              <a:r>
                <a:rPr dirty="0"/>
                <a:t> </a:t>
              </a:r>
              <a:r>
                <a:rPr dirty="0" err="1"/>
                <a:t>bemutató</a:t>
              </a:r>
              <a:r>
                <a:rPr dirty="0"/>
                <a:t> </a:t>
              </a:r>
              <a:r>
                <a:rPr dirty="0" err="1"/>
                <a:t>prezentáció</a:t>
              </a:r>
              <a:r>
                <a:rPr dirty="0"/>
                <a:t> </a:t>
              </a:r>
              <a:r>
                <a:rPr dirty="0" err="1"/>
                <a:t>diamintájának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animációinak</a:t>
              </a:r>
              <a:r>
                <a:rPr dirty="0"/>
                <a:t> </a:t>
              </a:r>
              <a:r>
                <a:rPr dirty="0" err="1"/>
                <a:t>beállítása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Dokumentáció</a:t>
              </a:r>
              <a:r>
                <a:rPr dirty="0"/>
                <a:t>, </a:t>
              </a:r>
              <a:r>
                <a:rPr dirty="0" err="1"/>
                <a:t>projektbeszámoló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GitHub </a:t>
              </a:r>
              <a:r>
                <a:rPr dirty="0" err="1"/>
                <a:t>rendszerezés</a:t>
              </a:r>
              <a:r>
                <a:rPr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7003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851FB3-8B33-57C0-3979-7D72CD05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3. Szakmai Források és Képanyagok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481590E2-9B6B-D3E4-A5D4-3934BC51648E}"/>
              </a:ext>
            </a:extLst>
          </p:cNvPr>
          <p:cNvGrpSpPr/>
          <p:nvPr/>
        </p:nvGrpSpPr>
        <p:grpSpPr>
          <a:xfrm>
            <a:off x="731520" y="1463040"/>
            <a:ext cx="5120640" cy="4754880"/>
            <a:chOff x="731520" y="1463040"/>
            <a:chExt cx="5120640" cy="475488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FBA303F-19CB-8029-69CD-1FCC2D30151B}"/>
                </a:ext>
              </a:extLst>
            </p:cNvPr>
            <p:cNvSpPr/>
            <p:nvPr/>
          </p:nvSpPr>
          <p:spPr>
            <a:xfrm>
              <a:off x="7315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AA4A48-F000-EEFE-C779-DE20C2D90893}"/>
                </a:ext>
              </a:extLst>
            </p:cNvPr>
            <p:cNvSpPr txBox="1"/>
            <p:nvPr/>
          </p:nvSpPr>
          <p:spPr>
            <a:xfrm>
              <a:off x="960120" y="1645920"/>
              <a:ext cx="4663440" cy="2333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77B6"/>
                  </a:solidFill>
                </a:defRPr>
              </a:pPr>
              <a:r>
                <a:rPr dirty="0" err="1">
                  <a:solidFill>
                    <a:srgbClr val="00B4D8"/>
                  </a:solidFill>
                </a:rPr>
                <a:t>Feldolgozott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Intézményi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Források</a:t>
              </a:r>
              <a:endParaRPr dirty="0">
                <a:solidFill>
                  <a:srgbClr val="00B4D8"/>
                </a:solidFill>
              </a:endParaRP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NBSZ </a:t>
              </a:r>
              <a:r>
                <a:rPr dirty="0" err="1"/>
                <a:t>Nemzeti</a:t>
              </a:r>
              <a:r>
                <a:rPr dirty="0"/>
                <a:t> </a:t>
              </a:r>
              <a:r>
                <a:rPr dirty="0" err="1"/>
                <a:t>Kibervédelmi</a:t>
              </a:r>
              <a:r>
                <a:rPr dirty="0"/>
                <a:t> </a:t>
              </a:r>
              <a:r>
                <a:rPr dirty="0" err="1"/>
                <a:t>Intézet</a:t>
              </a:r>
              <a:r>
                <a:rPr dirty="0"/>
                <a:t> (nki.gov.hu) – </a:t>
              </a:r>
              <a:r>
                <a:rPr dirty="0" err="1"/>
                <a:t>Jelszóvédelem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NMHH Gyerekaneten.hu – </a:t>
              </a:r>
              <a:r>
                <a:rPr dirty="0" err="1"/>
                <a:t>Fiatalok</a:t>
              </a:r>
              <a:r>
                <a:rPr dirty="0"/>
                <a:t> </a:t>
              </a:r>
              <a:r>
                <a:rPr dirty="0" err="1"/>
                <a:t>tudatos</a:t>
              </a:r>
              <a:r>
                <a:rPr dirty="0"/>
                <a:t> </a:t>
              </a:r>
              <a:r>
                <a:rPr dirty="0" err="1"/>
                <a:t>közösségi</a:t>
              </a:r>
              <a:r>
                <a:rPr dirty="0"/>
                <a:t> </a:t>
              </a:r>
              <a:r>
                <a:rPr dirty="0" err="1"/>
                <a:t>média</a:t>
              </a:r>
              <a:r>
                <a:rPr dirty="0"/>
                <a:t> </a:t>
              </a:r>
              <a:r>
                <a:rPr dirty="0" err="1"/>
                <a:t>jelenléte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KiberPajzs</a:t>
              </a:r>
              <a:r>
                <a:rPr dirty="0"/>
                <a:t> (MNB &amp; </a:t>
              </a:r>
              <a:r>
                <a:rPr dirty="0" err="1"/>
                <a:t>Bankszövetség</a:t>
              </a:r>
              <a:r>
                <a:rPr dirty="0"/>
                <a:t>) – </a:t>
              </a:r>
              <a:r>
                <a:rPr dirty="0" err="1"/>
                <a:t>Adathalász</a:t>
              </a:r>
              <a:r>
                <a:rPr dirty="0"/>
                <a:t> </a:t>
              </a:r>
              <a:r>
                <a:rPr dirty="0" err="1"/>
                <a:t>csalások</a:t>
              </a:r>
              <a:r>
                <a:rPr dirty="0"/>
                <a:t> </a:t>
              </a:r>
              <a:r>
                <a:rPr dirty="0" err="1"/>
                <a:t>kiszűrése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Europol EC3 – </a:t>
              </a:r>
              <a:r>
                <a:rPr dirty="0" err="1"/>
                <a:t>Játékbeli</a:t>
              </a:r>
              <a:r>
                <a:rPr dirty="0"/>
                <a:t> </a:t>
              </a:r>
              <a:r>
                <a:rPr dirty="0" err="1"/>
                <a:t>csalások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profilfeltörések</a:t>
              </a:r>
              <a:r>
                <a:rPr dirty="0"/>
                <a:t> </a:t>
              </a:r>
              <a:r>
                <a:rPr dirty="0" err="1"/>
                <a:t>megelőzése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Cisco Cybersecurity Reports – 2FA </a:t>
              </a:r>
              <a:r>
                <a:rPr dirty="0" err="1"/>
                <a:t>hatékonysági</a:t>
              </a:r>
              <a:r>
                <a:rPr dirty="0"/>
                <a:t> </a:t>
              </a:r>
              <a:r>
                <a:rPr dirty="0" err="1"/>
                <a:t>statisztikák</a:t>
              </a:r>
              <a:r>
                <a:rPr dirty="0"/>
                <a:t>.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6A668FBB-4B64-A191-484B-0B14F99308D0}"/>
              </a:ext>
            </a:extLst>
          </p:cNvPr>
          <p:cNvGrpSpPr/>
          <p:nvPr/>
        </p:nvGrpSpPr>
        <p:grpSpPr>
          <a:xfrm>
            <a:off x="6217920" y="1463040"/>
            <a:ext cx="5120640" cy="4754880"/>
            <a:chOff x="6217920" y="1463040"/>
            <a:chExt cx="5120640" cy="4754880"/>
          </a:xfrm>
        </p:grpSpPr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77E6CEFC-7162-3135-2B05-B016E037E3C9}"/>
                </a:ext>
              </a:extLst>
            </p:cNvPr>
            <p:cNvSpPr/>
            <p:nvPr/>
          </p:nvSpPr>
          <p:spPr>
            <a:xfrm>
              <a:off x="62179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CF97363E-75F2-8EF4-12E1-62D8ED9ED258}"/>
                </a:ext>
              </a:extLst>
            </p:cNvPr>
            <p:cNvSpPr txBox="1"/>
            <p:nvPr/>
          </p:nvSpPr>
          <p:spPr>
            <a:xfrm>
              <a:off x="6446520" y="1645920"/>
              <a:ext cx="4663440" cy="1831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B4D8"/>
                  </a:solidFill>
                </a:defRPr>
              </a:pPr>
              <a:r>
                <a:rPr dirty="0" err="1">
                  <a:solidFill>
                    <a:srgbClr val="00B4D8"/>
                  </a:solidFill>
                </a:rPr>
                <a:t>Digitális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Eszközök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és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Média</a:t>
              </a:r>
              <a:endParaRPr dirty="0">
                <a:solidFill>
                  <a:srgbClr val="00B4D8"/>
                </a:solidFill>
              </a:endParaRP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Képi</a:t>
              </a:r>
              <a:r>
                <a:rPr dirty="0"/>
                <a:t> </a:t>
              </a:r>
              <a:r>
                <a:rPr dirty="0" err="1"/>
                <a:t>anyagok</a:t>
              </a:r>
              <a:r>
                <a:rPr dirty="0"/>
                <a:t>: </a:t>
              </a:r>
              <a:r>
                <a:rPr dirty="0" err="1"/>
                <a:t>Unsplash</a:t>
              </a:r>
              <a:r>
                <a:rPr dirty="0"/>
                <a:t> </a:t>
              </a:r>
              <a:r>
                <a:rPr dirty="0" err="1"/>
                <a:t>jogtiszta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szabadon</a:t>
              </a:r>
              <a:r>
                <a:rPr dirty="0"/>
                <a:t> </a:t>
              </a:r>
              <a:r>
                <a:rPr dirty="0" err="1"/>
                <a:t>felhasználható</a:t>
              </a:r>
              <a:r>
                <a:rPr dirty="0"/>
                <a:t> </a:t>
              </a:r>
              <a:r>
                <a:rPr dirty="0" err="1"/>
                <a:t>fotótár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Frontend: HTML5, CSS3, Bootstrap 5.3.3, Bootstrap Icons.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Szerkesztők</a:t>
              </a:r>
              <a:r>
                <a:rPr dirty="0"/>
                <a:t>: Visual Studio Code, Canva, LibreOffice Writer.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Verziókezelés</a:t>
              </a:r>
              <a:r>
                <a:rPr dirty="0"/>
                <a:t>: Git, GitHub repository </a:t>
              </a:r>
              <a:r>
                <a:rPr dirty="0" err="1"/>
                <a:t>csapatmunkához</a:t>
              </a:r>
              <a:r>
                <a:rPr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0710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C4A053-4FC7-65E0-D4FE-84BE2E79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403944"/>
            <a:ext cx="9829800" cy="1143000"/>
          </a:xfrm>
        </p:spPr>
        <p:txBody>
          <a:bodyPr>
            <a:normAutofit fontScale="90000"/>
          </a:bodyPr>
          <a:lstStyle/>
          <a:p>
            <a:r>
              <a:rPr lang="hu-HU" dirty="0"/>
              <a:t>4. A </a:t>
            </a:r>
            <a:r>
              <a:rPr lang="hu-HU" dirty="0" err="1"/>
              <a:t>NetBiztos</a:t>
            </a:r>
            <a:r>
              <a:rPr lang="hu-HU" dirty="0"/>
              <a:t> Weboldal Felépítése (4 Aloldal)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FA97872F-30E1-1184-AF1A-657CBAA06BE7}"/>
              </a:ext>
            </a:extLst>
          </p:cNvPr>
          <p:cNvGrpSpPr/>
          <p:nvPr/>
        </p:nvGrpSpPr>
        <p:grpSpPr>
          <a:xfrm>
            <a:off x="731520" y="1463040"/>
            <a:ext cx="2468880" cy="4754880"/>
            <a:chOff x="731520" y="1463040"/>
            <a:chExt cx="2468880" cy="475488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6BA1A32-88CD-5994-9B1B-6CA84A3F5BEB}"/>
                </a:ext>
              </a:extLst>
            </p:cNvPr>
            <p:cNvSpPr/>
            <p:nvPr/>
          </p:nvSpPr>
          <p:spPr>
            <a:xfrm>
              <a:off x="731520" y="1463040"/>
              <a:ext cx="246888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B30C22-6206-29B8-1FD1-73C1FC7F1A01}"/>
                </a:ext>
              </a:extLst>
            </p:cNvPr>
            <p:cNvSpPr txBox="1"/>
            <p:nvPr/>
          </p:nvSpPr>
          <p:spPr>
            <a:xfrm>
              <a:off x="960120" y="1645920"/>
              <a:ext cx="201168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77B6"/>
                  </a:solidFill>
                </a:defRPr>
              </a:pPr>
              <a:r>
                <a:rPr dirty="0"/>
                <a:t>1. </a:t>
              </a:r>
              <a:r>
                <a:rPr dirty="0" err="1"/>
                <a:t>Főoldal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index.html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Hero </a:t>
              </a:r>
              <a:r>
                <a:rPr dirty="0" err="1"/>
                <a:t>bevezető</a:t>
              </a:r>
              <a:r>
                <a:rPr dirty="0"/>
                <a:t> </a:t>
              </a:r>
              <a:r>
                <a:rPr dirty="0" err="1"/>
                <a:t>szekció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</a:t>
              </a:r>
              <a:r>
                <a:rPr dirty="0" err="1"/>
                <a:t>kiberbiztonság</a:t>
              </a:r>
              <a:r>
                <a:rPr dirty="0"/>
                <a:t> </a:t>
              </a:r>
              <a:r>
                <a:rPr dirty="0" err="1"/>
                <a:t>fontossága</a:t>
              </a:r>
              <a:r>
                <a:rPr dirty="0"/>
                <a:t> a </a:t>
              </a:r>
              <a:r>
                <a:rPr dirty="0" err="1"/>
                <a:t>mindennapokban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Navigációs</a:t>
              </a:r>
              <a:r>
                <a:rPr dirty="0"/>
                <a:t> </a:t>
              </a:r>
              <a:r>
                <a:rPr dirty="0" err="1"/>
                <a:t>kártyák</a:t>
              </a:r>
              <a:r>
                <a:rPr dirty="0"/>
                <a:t> a </a:t>
              </a:r>
              <a:r>
                <a:rPr dirty="0" err="1"/>
                <a:t>témakörökhöz</a:t>
              </a:r>
              <a:r>
                <a:rPr dirty="0"/>
                <a:t>.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1E0C63EC-6CD0-F975-764B-47EAC1892C39}"/>
              </a:ext>
            </a:extLst>
          </p:cNvPr>
          <p:cNvGrpSpPr/>
          <p:nvPr/>
        </p:nvGrpSpPr>
        <p:grpSpPr>
          <a:xfrm>
            <a:off x="3474720" y="1463040"/>
            <a:ext cx="2468880" cy="4754880"/>
            <a:chOff x="3474720" y="1463040"/>
            <a:chExt cx="2468880" cy="4754880"/>
          </a:xfrm>
        </p:grpSpPr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10EC7BE8-CF28-732E-7B18-3250C1F075CD}"/>
                </a:ext>
              </a:extLst>
            </p:cNvPr>
            <p:cNvSpPr/>
            <p:nvPr/>
          </p:nvSpPr>
          <p:spPr>
            <a:xfrm>
              <a:off x="3474720" y="1463040"/>
              <a:ext cx="246888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648C2A9B-0A81-403A-B490-182BC6A96862}"/>
                </a:ext>
              </a:extLst>
            </p:cNvPr>
            <p:cNvSpPr txBox="1"/>
            <p:nvPr/>
          </p:nvSpPr>
          <p:spPr>
            <a:xfrm>
              <a:off x="3703320" y="1645920"/>
              <a:ext cx="201168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B4D8"/>
                  </a:solidFill>
                </a:defRPr>
              </a:pPr>
              <a:r>
                <a:rPr dirty="0"/>
                <a:t>2. </a:t>
              </a:r>
              <a:r>
                <a:rPr dirty="0" err="1"/>
                <a:t>Jelszavak</a:t>
              </a:r>
              <a:r>
                <a:rPr dirty="0"/>
                <a:t> &amp; 2FA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passwords.html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Brute-force </a:t>
              </a:r>
              <a:r>
                <a:rPr dirty="0" err="1"/>
                <a:t>támadások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</a:t>
              </a:r>
              <a:r>
                <a:rPr dirty="0" err="1"/>
                <a:t>jelmondat</a:t>
              </a:r>
              <a:r>
                <a:rPr dirty="0"/>
                <a:t> </a:t>
              </a:r>
              <a:r>
                <a:rPr dirty="0" err="1"/>
                <a:t>módszer</a:t>
              </a:r>
              <a:r>
                <a:rPr dirty="0"/>
                <a:t> (Passphrase).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Gyakori</a:t>
              </a:r>
              <a:r>
                <a:rPr dirty="0"/>
                <a:t> </a:t>
              </a:r>
              <a:r>
                <a:rPr dirty="0" err="1"/>
                <a:t>hibák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2FA </a:t>
              </a:r>
              <a:r>
                <a:rPr dirty="0" err="1"/>
                <a:t>beállítási</a:t>
              </a:r>
              <a:r>
                <a:rPr dirty="0"/>
                <a:t> </a:t>
              </a:r>
              <a:r>
                <a:rPr dirty="0" err="1"/>
                <a:t>tanácsok</a:t>
              </a:r>
              <a:r>
                <a:rPr dirty="0"/>
                <a:t>.</a:t>
              </a:r>
            </a:p>
          </p:txBody>
        </p:sp>
      </p:grp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BC74D34B-EE3D-D727-946A-AA38B4AD2A2A}"/>
              </a:ext>
            </a:extLst>
          </p:cNvPr>
          <p:cNvGrpSpPr/>
          <p:nvPr/>
        </p:nvGrpSpPr>
        <p:grpSpPr>
          <a:xfrm>
            <a:off x="6217920" y="1463040"/>
            <a:ext cx="2468880" cy="4754880"/>
            <a:chOff x="6217920" y="1463040"/>
            <a:chExt cx="2468880" cy="4754880"/>
          </a:xfrm>
        </p:grpSpPr>
        <p:sp>
          <p:nvSpPr>
            <p:cNvPr id="10" name="Rounded Rectangle 7">
              <a:extLst>
                <a:ext uri="{FF2B5EF4-FFF2-40B4-BE49-F238E27FC236}">
                  <a16:creationId xmlns:a16="http://schemas.microsoft.com/office/drawing/2014/main" id="{F5C402E5-791C-0D83-50D1-80CB9C91D0B7}"/>
                </a:ext>
              </a:extLst>
            </p:cNvPr>
            <p:cNvSpPr/>
            <p:nvPr/>
          </p:nvSpPr>
          <p:spPr>
            <a:xfrm>
              <a:off x="6217920" y="1463040"/>
              <a:ext cx="246888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A7EF170A-ED15-6A04-F491-F1714992323A}"/>
                </a:ext>
              </a:extLst>
            </p:cNvPr>
            <p:cNvSpPr txBox="1"/>
            <p:nvPr/>
          </p:nvSpPr>
          <p:spPr>
            <a:xfrm>
              <a:off x="6446520" y="1645920"/>
              <a:ext cx="201168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E11D48"/>
                  </a:solidFill>
                </a:defRPr>
              </a:pPr>
              <a:r>
                <a:rPr dirty="0"/>
                <a:t>3. </a:t>
              </a:r>
              <a:r>
                <a:rPr dirty="0" err="1"/>
                <a:t>Adathalászat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phishing.html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Sürgető</a:t>
              </a:r>
              <a:r>
                <a:rPr dirty="0"/>
                <a:t> </a:t>
              </a:r>
              <a:r>
                <a:rPr dirty="0" err="1"/>
                <a:t>üzenetek</a:t>
              </a:r>
              <a:r>
                <a:rPr dirty="0"/>
                <a:t> </a:t>
              </a:r>
              <a:r>
                <a:rPr dirty="0" err="1"/>
                <a:t>kiszűrése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Kamu Steam/Discord </a:t>
              </a:r>
              <a:r>
                <a:rPr dirty="0" err="1"/>
                <a:t>linkek</a:t>
              </a:r>
              <a:r>
                <a:rPr dirty="0"/>
                <a:t> </a:t>
              </a:r>
              <a:r>
                <a:rPr dirty="0" err="1"/>
                <a:t>felismerése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Csomagküldő</a:t>
              </a:r>
              <a:r>
                <a:rPr dirty="0"/>
                <a:t> SMS </a:t>
              </a:r>
              <a:r>
                <a:rPr dirty="0" err="1"/>
                <a:t>csalások</a:t>
              </a:r>
              <a:r>
                <a:rPr dirty="0"/>
                <a:t>.</a:t>
              </a:r>
            </a:p>
          </p:txBody>
        </p:sp>
      </p:grp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2C795F45-D4AB-BFA8-0C3F-FDFEC0E38B02}"/>
              </a:ext>
            </a:extLst>
          </p:cNvPr>
          <p:cNvGrpSpPr/>
          <p:nvPr/>
        </p:nvGrpSpPr>
        <p:grpSpPr>
          <a:xfrm>
            <a:off x="8961120" y="1463040"/>
            <a:ext cx="2468880" cy="4754880"/>
            <a:chOff x="8961120" y="1463040"/>
            <a:chExt cx="2468880" cy="4754880"/>
          </a:xfrm>
        </p:grpSpPr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5327001E-118D-0646-7608-2A1C085441F0}"/>
                </a:ext>
              </a:extLst>
            </p:cNvPr>
            <p:cNvSpPr/>
            <p:nvPr/>
          </p:nvSpPr>
          <p:spPr>
            <a:xfrm>
              <a:off x="8961120" y="1463040"/>
              <a:ext cx="246888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CA486AAB-7E83-55E5-C15A-59DD66FBA3CE}"/>
                </a:ext>
              </a:extLst>
            </p:cNvPr>
            <p:cNvSpPr txBox="1"/>
            <p:nvPr/>
          </p:nvSpPr>
          <p:spPr>
            <a:xfrm>
              <a:off x="9189720" y="1645920"/>
              <a:ext cx="201168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10B981"/>
                  </a:solidFill>
                </a:defRPr>
              </a:pPr>
              <a:r>
                <a:rPr dirty="0"/>
                <a:t>4. </a:t>
              </a:r>
              <a:r>
                <a:rPr dirty="0" err="1"/>
                <a:t>Lábnyom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privacy.html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Magánélet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profilbeállítások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Helyadatok</a:t>
              </a:r>
              <a:r>
                <a:rPr dirty="0"/>
                <a:t> </a:t>
              </a:r>
              <a:r>
                <a:rPr dirty="0" err="1"/>
                <a:t>kockázatai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Nyilvános</a:t>
              </a:r>
              <a:r>
                <a:rPr dirty="0"/>
                <a:t> Wi-Fi </a:t>
              </a:r>
              <a:r>
                <a:rPr dirty="0" err="1"/>
                <a:t>és</a:t>
              </a:r>
              <a:r>
                <a:rPr dirty="0"/>
                <a:t> VPN </a:t>
              </a:r>
              <a:r>
                <a:rPr dirty="0" err="1"/>
                <a:t>használat</a:t>
              </a:r>
              <a:r>
                <a:rPr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75369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4AC9C7-FC00-F46A-82B5-25A8FC31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03944"/>
            <a:ext cx="11010900" cy="1143000"/>
          </a:xfrm>
        </p:spPr>
        <p:txBody>
          <a:bodyPr>
            <a:normAutofit fontScale="90000"/>
          </a:bodyPr>
          <a:lstStyle/>
          <a:p>
            <a:r>
              <a:rPr lang="hu-HU" dirty="0"/>
              <a:t>5. Szakmai Fókusz: Jelszavak és Kétlépcsős Védelem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687DDB3B-FF26-6783-B278-609675D8B0FB}"/>
              </a:ext>
            </a:extLst>
          </p:cNvPr>
          <p:cNvGrpSpPr/>
          <p:nvPr/>
        </p:nvGrpSpPr>
        <p:grpSpPr>
          <a:xfrm>
            <a:off x="731520" y="1463040"/>
            <a:ext cx="5120640" cy="4754880"/>
            <a:chOff x="731520" y="1463040"/>
            <a:chExt cx="5120640" cy="475488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3B4F58A4-3E35-FA5A-192C-CCE6DE23C5D5}"/>
                </a:ext>
              </a:extLst>
            </p:cNvPr>
            <p:cNvSpPr/>
            <p:nvPr/>
          </p:nvSpPr>
          <p:spPr>
            <a:xfrm>
              <a:off x="7315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02AF6F-8716-D333-CE2F-8A49A7B89FFB}"/>
                </a:ext>
              </a:extLst>
            </p:cNvPr>
            <p:cNvSpPr txBox="1"/>
            <p:nvPr/>
          </p:nvSpPr>
          <p:spPr>
            <a:xfrm>
              <a:off x="960120" y="1645920"/>
              <a:ext cx="466344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77B6"/>
                  </a:solidFill>
                </a:defRPr>
              </a:pPr>
              <a:r>
                <a:rPr dirty="0"/>
                <a:t>A </a:t>
              </a:r>
              <a:r>
                <a:rPr dirty="0" err="1"/>
                <a:t>Jelmondat</a:t>
              </a:r>
              <a:r>
                <a:rPr dirty="0"/>
                <a:t> (Passphrase) Elve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</a:t>
              </a:r>
              <a:r>
                <a:rPr dirty="0" err="1"/>
                <a:t>rövid</a:t>
              </a:r>
              <a:r>
                <a:rPr dirty="0"/>
                <a:t>, </a:t>
              </a:r>
              <a:r>
                <a:rPr dirty="0" err="1"/>
                <a:t>nehezen</a:t>
              </a:r>
              <a:r>
                <a:rPr dirty="0"/>
                <a:t> </a:t>
              </a:r>
              <a:r>
                <a:rPr dirty="0" err="1"/>
                <a:t>megjegyezhető</a:t>
              </a:r>
              <a:r>
                <a:rPr dirty="0"/>
                <a:t> </a:t>
              </a:r>
              <a:r>
                <a:rPr dirty="0" err="1"/>
                <a:t>jelszavak</a:t>
              </a:r>
              <a:r>
                <a:rPr dirty="0"/>
                <a:t> </a:t>
              </a:r>
              <a:r>
                <a:rPr dirty="0" err="1"/>
                <a:t>ideje</a:t>
              </a:r>
              <a:r>
                <a:rPr dirty="0"/>
                <a:t> </a:t>
              </a:r>
              <a:r>
                <a:rPr dirty="0" err="1"/>
                <a:t>lejárt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4–5 </a:t>
              </a:r>
              <a:r>
                <a:rPr dirty="0" err="1"/>
                <a:t>véletlenszerű</a:t>
              </a:r>
              <a:r>
                <a:rPr dirty="0"/>
                <a:t> </a:t>
              </a:r>
              <a:r>
                <a:rPr dirty="0" err="1"/>
                <a:t>magyar</a:t>
              </a:r>
              <a:r>
                <a:rPr dirty="0"/>
                <a:t> </a:t>
              </a:r>
              <a:r>
                <a:rPr dirty="0" err="1"/>
                <a:t>szó</a:t>
              </a:r>
              <a:r>
                <a:rPr dirty="0"/>
                <a:t> </a:t>
              </a:r>
              <a:r>
                <a:rPr dirty="0" err="1"/>
                <a:t>összefűzése</a:t>
              </a:r>
              <a:r>
                <a:rPr dirty="0"/>
                <a:t> </a:t>
              </a:r>
              <a:r>
                <a:rPr dirty="0" err="1"/>
                <a:t>sokkal</a:t>
              </a:r>
              <a:r>
                <a:rPr dirty="0"/>
                <a:t> </a:t>
              </a:r>
              <a:r>
                <a:rPr dirty="0" err="1"/>
                <a:t>biztonságosabb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Példa</a:t>
              </a:r>
              <a:r>
                <a:rPr dirty="0"/>
                <a:t>: 'Kek.Auto.Repul.Kave2026!' – </a:t>
              </a:r>
              <a:r>
                <a:rPr dirty="0" err="1"/>
                <a:t>egyszerű</a:t>
              </a:r>
              <a:r>
                <a:rPr dirty="0"/>
                <a:t> </a:t>
              </a:r>
              <a:r>
                <a:rPr dirty="0" err="1"/>
                <a:t>megjegyezni</a:t>
              </a:r>
              <a:r>
                <a:rPr dirty="0"/>
                <a:t>, de </a:t>
              </a:r>
              <a:r>
                <a:rPr dirty="0" err="1"/>
                <a:t>feltörhetetlen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Kerülendő</a:t>
              </a:r>
              <a:r>
                <a:rPr dirty="0"/>
                <a:t>: </a:t>
              </a:r>
              <a:r>
                <a:rPr dirty="0" err="1"/>
                <a:t>születési</a:t>
              </a:r>
              <a:r>
                <a:rPr dirty="0"/>
                <a:t> </a:t>
              </a:r>
              <a:r>
                <a:rPr dirty="0" err="1"/>
                <a:t>dátum</a:t>
              </a:r>
              <a:r>
                <a:rPr dirty="0"/>
                <a:t>, </a:t>
              </a:r>
              <a:r>
                <a:rPr dirty="0" err="1"/>
                <a:t>becenév</a:t>
              </a:r>
              <a:r>
                <a:rPr dirty="0"/>
                <a:t>, '123456', </a:t>
              </a:r>
              <a:r>
                <a:rPr dirty="0" err="1"/>
                <a:t>iskolanév</a:t>
              </a:r>
              <a:r>
                <a:rPr dirty="0"/>
                <a:t>.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1D73AC5E-1E45-8882-2D5A-441938ED89E2}"/>
              </a:ext>
            </a:extLst>
          </p:cNvPr>
          <p:cNvGrpSpPr/>
          <p:nvPr/>
        </p:nvGrpSpPr>
        <p:grpSpPr>
          <a:xfrm>
            <a:off x="6217920" y="1463040"/>
            <a:ext cx="5120640" cy="4754880"/>
            <a:chOff x="6217920" y="1463040"/>
            <a:chExt cx="5120640" cy="4754880"/>
          </a:xfrm>
        </p:grpSpPr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DCF0B849-BF86-1334-4037-F08737BF9705}"/>
                </a:ext>
              </a:extLst>
            </p:cNvPr>
            <p:cNvSpPr/>
            <p:nvPr/>
          </p:nvSpPr>
          <p:spPr>
            <a:xfrm>
              <a:off x="62179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A18F5304-7AD5-1FBB-AB2D-BF002917548B}"/>
                </a:ext>
              </a:extLst>
            </p:cNvPr>
            <p:cNvSpPr txBox="1"/>
            <p:nvPr/>
          </p:nvSpPr>
          <p:spPr>
            <a:xfrm>
              <a:off x="6446520" y="1645920"/>
              <a:ext cx="466344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10B981"/>
                  </a:solidFill>
                </a:defRPr>
              </a:pPr>
              <a:r>
                <a:rPr dirty="0" err="1"/>
                <a:t>Kétlépcsős</a:t>
              </a:r>
              <a:r>
                <a:rPr dirty="0"/>
                <a:t> </a:t>
              </a:r>
              <a:r>
                <a:rPr dirty="0" err="1"/>
                <a:t>Azonosítás</a:t>
              </a:r>
              <a:r>
                <a:rPr dirty="0"/>
                <a:t> (2FA)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</a:t>
              </a:r>
              <a:r>
                <a:rPr dirty="0" err="1"/>
                <a:t>jelszó</a:t>
              </a:r>
              <a:r>
                <a:rPr dirty="0"/>
                <a:t> </a:t>
              </a:r>
              <a:r>
                <a:rPr dirty="0" err="1"/>
                <a:t>önmagában</a:t>
              </a:r>
              <a:r>
                <a:rPr dirty="0"/>
                <a:t> </a:t>
              </a:r>
              <a:r>
                <a:rPr dirty="0" err="1"/>
                <a:t>már</a:t>
              </a:r>
              <a:r>
                <a:rPr dirty="0"/>
                <a:t> nem </a:t>
              </a:r>
              <a:r>
                <a:rPr dirty="0" err="1"/>
                <a:t>nyújt</a:t>
              </a:r>
              <a:r>
                <a:rPr dirty="0"/>
                <a:t> 100%-</a:t>
              </a:r>
              <a:r>
                <a:rPr dirty="0" err="1"/>
                <a:t>os</a:t>
              </a:r>
              <a:r>
                <a:rPr dirty="0"/>
                <a:t> </a:t>
              </a:r>
              <a:r>
                <a:rPr dirty="0" err="1"/>
                <a:t>védelmet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2FA </a:t>
              </a:r>
              <a:r>
                <a:rPr dirty="0" err="1"/>
                <a:t>második</a:t>
              </a:r>
              <a:r>
                <a:rPr dirty="0"/>
                <a:t> </a:t>
              </a:r>
              <a:r>
                <a:rPr dirty="0" err="1"/>
                <a:t>védelmi</a:t>
              </a:r>
              <a:r>
                <a:rPr dirty="0"/>
                <a:t> </a:t>
              </a:r>
              <a:r>
                <a:rPr dirty="0" err="1"/>
                <a:t>vonalat</a:t>
              </a:r>
              <a:r>
                <a:rPr dirty="0"/>
                <a:t> </a:t>
              </a:r>
              <a:r>
                <a:rPr dirty="0" err="1"/>
                <a:t>képez</a:t>
              </a:r>
              <a:r>
                <a:rPr dirty="0"/>
                <a:t> (SMS </a:t>
              </a:r>
              <a:r>
                <a:rPr dirty="0" err="1"/>
                <a:t>vagy</a:t>
              </a:r>
              <a:r>
                <a:rPr dirty="0"/>
                <a:t> </a:t>
              </a:r>
              <a:r>
                <a:rPr dirty="0" err="1"/>
                <a:t>Hitelesítő</a:t>
              </a:r>
              <a:r>
                <a:rPr dirty="0"/>
                <a:t> app </a:t>
              </a:r>
              <a:r>
                <a:rPr dirty="0" err="1"/>
                <a:t>kód</a:t>
              </a:r>
              <a:r>
                <a:rPr dirty="0"/>
                <a:t>).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Adatszivárgás</a:t>
              </a:r>
              <a:r>
                <a:rPr dirty="0"/>
                <a:t> </a:t>
              </a:r>
              <a:r>
                <a:rPr dirty="0" err="1"/>
                <a:t>esetén</a:t>
              </a:r>
              <a:r>
                <a:rPr dirty="0"/>
                <a:t> </a:t>
              </a:r>
              <a:r>
                <a:rPr dirty="0" err="1"/>
                <a:t>sem</a:t>
              </a:r>
              <a:r>
                <a:rPr dirty="0"/>
                <a:t> </a:t>
              </a:r>
              <a:r>
                <a:rPr dirty="0" err="1"/>
                <a:t>tudnak</a:t>
              </a:r>
              <a:r>
                <a:rPr dirty="0"/>
                <a:t> </a:t>
              </a:r>
              <a:r>
                <a:rPr dirty="0" err="1"/>
                <a:t>belépni</a:t>
              </a:r>
              <a:r>
                <a:rPr dirty="0"/>
                <a:t> a </a:t>
              </a:r>
              <a:r>
                <a:rPr dirty="0" err="1"/>
                <a:t>fiókba</a:t>
              </a:r>
              <a:r>
                <a:rPr dirty="0"/>
                <a:t> a </a:t>
              </a:r>
              <a:r>
                <a:rPr dirty="0" err="1"/>
                <a:t>kód</a:t>
              </a:r>
              <a:r>
                <a:rPr dirty="0"/>
                <a:t> </a:t>
              </a:r>
              <a:r>
                <a:rPr dirty="0" err="1"/>
                <a:t>nélkül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Jelszókezelők</a:t>
              </a:r>
              <a:r>
                <a:rPr dirty="0"/>
                <a:t> </a:t>
              </a:r>
              <a:r>
                <a:rPr dirty="0" err="1"/>
                <a:t>alkalmazása</a:t>
              </a:r>
              <a:r>
                <a:rPr dirty="0"/>
                <a:t> (pl. </a:t>
              </a:r>
              <a:r>
                <a:rPr dirty="0" err="1"/>
                <a:t>Bitwarden</a:t>
              </a:r>
              <a:r>
                <a:rPr dirty="0"/>
                <a:t>) </a:t>
              </a:r>
              <a:r>
                <a:rPr dirty="0" err="1"/>
                <a:t>az</a:t>
              </a:r>
              <a:r>
                <a:rPr dirty="0"/>
                <a:t> </a:t>
              </a:r>
              <a:r>
                <a:rPr dirty="0" err="1"/>
                <a:t>egyedi</a:t>
              </a:r>
              <a:r>
                <a:rPr dirty="0"/>
                <a:t> </a:t>
              </a:r>
              <a:r>
                <a:rPr dirty="0" err="1"/>
                <a:t>jelszavakhoz</a:t>
              </a:r>
              <a:r>
                <a:rPr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28512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5E6811-4F21-D41C-5F17-E55EAF83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675" y="403944"/>
            <a:ext cx="9518650" cy="1143000"/>
          </a:xfrm>
        </p:spPr>
        <p:txBody>
          <a:bodyPr>
            <a:normAutofit fontScale="90000"/>
          </a:bodyPr>
          <a:lstStyle/>
          <a:p>
            <a:r>
              <a:rPr lang="hu-HU" dirty="0"/>
              <a:t>6. Szakmai Fókusz: Adathalászat és Csalások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8A459499-6338-C75D-EC66-E00D036A898D}"/>
              </a:ext>
            </a:extLst>
          </p:cNvPr>
          <p:cNvGrpSpPr/>
          <p:nvPr/>
        </p:nvGrpSpPr>
        <p:grpSpPr>
          <a:xfrm>
            <a:off x="731520" y="1463040"/>
            <a:ext cx="5120640" cy="4754880"/>
            <a:chOff x="731520" y="1463040"/>
            <a:chExt cx="5120640" cy="475488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61CF2E2-9075-2E9A-B35C-C70076BBBDA2}"/>
                </a:ext>
              </a:extLst>
            </p:cNvPr>
            <p:cNvSpPr/>
            <p:nvPr/>
          </p:nvSpPr>
          <p:spPr>
            <a:xfrm>
              <a:off x="7315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D9C160-CD61-C374-A8CB-F56E424DB4F3}"/>
                </a:ext>
              </a:extLst>
            </p:cNvPr>
            <p:cNvSpPr txBox="1"/>
            <p:nvPr/>
          </p:nvSpPr>
          <p:spPr>
            <a:xfrm>
              <a:off x="960120" y="1645920"/>
              <a:ext cx="466344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E11D48"/>
                  </a:solidFill>
                </a:defRPr>
              </a:pPr>
              <a:r>
                <a:rPr dirty="0"/>
                <a:t>A 3 </a:t>
              </a:r>
              <a:r>
                <a:rPr dirty="0" err="1"/>
                <a:t>Legfontosabb</a:t>
              </a:r>
              <a:r>
                <a:rPr dirty="0"/>
                <a:t> </a:t>
              </a:r>
              <a:r>
                <a:rPr dirty="0" err="1"/>
                <a:t>Intő</a:t>
              </a:r>
              <a:r>
                <a:rPr dirty="0"/>
                <a:t> Jel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1. </a:t>
              </a:r>
              <a:r>
                <a:rPr dirty="0" err="1"/>
                <a:t>Pszichológiai</a:t>
              </a:r>
              <a:r>
                <a:rPr dirty="0"/>
                <a:t> </a:t>
              </a:r>
              <a:r>
                <a:rPr dirty="0" err="1"/>
                <a:t>nyomás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sürgetés</a:t>
              </a:r>
              <a:r>
                <a:rPr dirty="0"/>
                <a:t>: '</a:t>
              </a:r>
              <a:r>
                <a:rPr dirty="0" err="1"/>
                <a:t>Zároljuk</a:t>
              </a:r>
              <a:r>
                <a:rPr dirty="0"/>
                <a:t> a </a:t>
              </a:r>
              <a:r>
                <a:rPr dirty="0" err="1"/>
                <a:t>fiókod</a:t>
              </a:r>
              <a:r>
                <a:rPr dirty="0"/>
                <a:t> 24 </a:t>
              </a:r>
              <a:r>
                <a:rPr dirty="0" err="1"/>
                <a:t>órán</a:t>
              </a:r>
              <a:r>
                <a:rPr dirty="0"/>
                <a:t> </a:t>
              </a:r>
              <a:r>
                <a:rPr dirty="0" err="1"/>
                <a:t>belül</a:t>
              </a:r>
              <a:r>
                <a:rPr dirty="0"/>
                <a:t>!'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2. </a:t>
              </a:r>
              <a:r>
                <a:rPr dirty="0" err="1"/>
                <a:t>Túl</a:t>
              </a:r>
              <a:r>
                <a:rPr dirty="0"/>
                <a:t> </a:t>
              </a:r>
              <a:r>
                <a:rPr dirty="0" err="1"/>
                <a:t>szép</a:t>
              </a:r>
              <a:r>
                <a:rPr dirty="0"/>
                <a:t> </a:t>
              </a:r>
              <a:r>
                <a:rPr dirty="0" err="1"/>
                <a:t>ajánlatok</a:t>
              </a:r>
              <a:r>
                <a:rPr dirty="0"/>
                <a:t>: </a:t>
              </a:r>
              <a:r>
                <a:rPr dirty="0" err="1"/>
                <a:t>Ingyenes</a:t>
              </a:r>
              <a:r>
                <a:rPr dirty="0"/>
                <a:t> Nitro, </a:t>
              </a:r>
              <a:r>
                <a:rPr dirty="0" err="1"/>
                <a:t>kamu</a:t>
              </a:r>
              <a:r>
                <a:rPr dirty="0"/>
                <a:t> </a:t>
              </a:r>
              <a:r>
                <a:rPr dirty="0" err="1"/>
                <a:t>játékpénz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skinek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3. </a:t>
              </a:r>
              <a:r>
                <a:rPr dirty="0" err="1"/>
                <a:t>Gyanús</a:t>
              </a:r>
              <a:r>
                <a:rPr dirty="0"/>
                <a:t> domain </a:t>
              </a:r>
              <a:r>
                <a:rPr dirty="0" err="1"/>
                <a:t>címek</a:t>
              </a:r>
              <a:r>
                <a:rPr dirty="0"/>
                <a:t>: </a:t>
              </a:r>
              <a:r>
                <a:rPr dirty="0" err="1"/>
                <a:t>Eltérő</a:t>
              </a:r>
              <a:r>
                <a:rPr dirty="0"/>
                <a:t> </a:t>
              </a:r>
              <a:r>
                <a:rPr dirty="0" err="1"/>
                <a:t>végződések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elgépelt</a:t>
              </a:r>
              <a:r>
                <a:rPr dirty="0"/>
                <a:t> </a:t>
              </a:r>
              <a:r>
                <a:rPr dirty="0" err="1"/>
                <a:t>hivatalos</a:t>
              </a:r>
              <a:r>
                <a:rPr dirty="0"/>
                <a:t> </a:t>
              </a:r>
              <a:r>
                <a:rPr dirty="0" err="1"/>
                <a:t>nevek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Szabály</a:t>
              </a:r>
              <a:r>
                <a:rPr dirty="0"/>
                <a:t>: </a:t>
              </a:r>
              <a:r>
                <a:rPr dirty="0" err="1"/>
                <a:t>Hivatalos</a:t>
              </a:r>
              <a:r>
                <a:rPr dirty="0"/>
                <a:t> </a:t>
              </a:r>
              <a:r>
                <a:rPr dirty="0" err="1"/>
                <a:t>cég</a:t>
              </a:r>
              <a:r>
                <a:rPr dirty="0"/>
                <a:t> </a:t>
              </a:r>
              <a:r>
                <a:rPr dirty="0" err="1"/>
                <a:t>soha</a:t>
              </a:r>
              <a:r>
                <a:rPr dirty="0"/>
                <a:t> nem </a:t>
              </a:r>
              <a:r>
                <a:rPr dirty="0" err="1"/>
                <a:t>kér</a:t>
              </a:r>
              <a:r>
                <a:rPr dirty="0"/>
                <a:t> </a:t>
              </a:r>
              <a:r>
                <a:rPr dirty="0" err="1"/>
                <a:t>jelszót</a:t>
              </a:r>
              <a:r>
                <a:rPr dirty="0"/>
                <a:t> </a:t>
              </a:r>
              <a:r>
                <a:rPr dirty="0" err="1"/>
                <a:t>privát</a:t>
              </a:r>
              <a:r>
                <a:rPr dirty="0"/>
                <a:t> </a:t>
              </a:r>
              <a:r>
                <a:rPr dirty="0" err="1"/>
                <a:t>üzenetben</a:t>
              </a:r>
              <a:r>
                <a:rPr dirty="0"/>
                <a:t>!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458132BE-3F74-DE71-D2DD-45FE71CCF9D3}"/>
              </a:ext>
            </a:extLst>
          </p:cNvPr>
          <p:cNvGrpSpPr/>
          <p:nvPr/>
        </p:nvGrpSpPr>
        <p:grpSpPr>
          <a:xfrm>
            <a:off x="6217920" y="1463040"/>
            <a:ext cx="5120640" cy="4754880"/>
            <a:chOff x="6217920" y="1463040"/>
            <a:chExt cx="5120640" cy="4754880"/>
          </a:xfrm>
        </p:grpSpPr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523B2EC4-DFA8-E92B-9827-BB834DD1CCF5}"/>
                </a:ext>
              </a:extLst>
            </p:cNvPr>
            <p:cNvSpPr/>
            <p:nvPr/>
          </p:nvSpPr>
          <p:spPr>
            <a:xfrm>
              <a:off x="62179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836234D9-211C-81C4-FE30-42A8C3EA40C9}"/>
                </a:ext>
              </a:extLst>
            </p:cNvPr>
            <p:cNvSpPr txBox="1"/>
            <p:nvPr/>
          </p:nvSpPr>
          <p:spPr>
            <a:xfrm>
              <a:off x="6446520" y="1645920"/>
              <a:ext cx="4663440" cy="438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77B6"/>
                  </a:solidFill>
                </a:defRPr>
              </a:pPr>
              <a:r>
                <a:rPr dirty="0" err="1"/>
                <a:t>Leggyakoribb</a:t>
              </a:r>
              <a:r>
                <a:rPr dirty="0"/>
                <a:t> </a:t>
              </a:r>
              <a:r>
                <a:rPr dirty="0" err="1"/>
                <a:t>Támadási</a:t>
              </a:r>
              <a:r>
                <a:rPr dirty="0"/>
                <a:t> </a:t>
              </a:r>
              <a:r>
                <a:rPr dirty="0" err="1"/>
                <a:t>Felületek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Discord </a:t>
              </a:r>
              <a:r>
                <a:rPr dirty="0" err="1"/>
                <a:t>és</a:t>
              </a:r>
              <a:r>
                <a:rPr dirty="0"/>
                <a:t> Steam </a:t>
              </a:r>
              <a:r>
                <a:rPr dirty="0" err="1"/>
                <a:t>közvetlen</a:t>
              </a:r>
              <a:r>
                <a:rPr dirty="0"/>
                <a:t> </a:t>
              </a:r>
              <a:r>
                <a:rPr dirty="0" err="1"/>
                <a:t>üzenetek</a:t>
              </a:r>
              <a:r>
                <a:rPr dirty="0"/>
                <a:t> </a:t>
              </a:r>
              <a:r>
                <a:rPr dirty="0" err="1"/>
                <a:t>kamu</a:t>
              </a:r>
              <a:r>
                <a:rPr dirty="0"/>
                <a:t> </a:t>
              </a:r>
              <a:r>
                <a:rPr dirty="0" err="1"/>
                <a:t>szavazásokról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Közösségi</a:t>
              </a:r>
              <a:r>
                <a:rPr dirty="0"/>
                <a:t> </a:t>
              </a:r>
              <a:r>
                <a:rPr dirty="0" err="1"/>
                <a:t>médián</a:t>
              </a:r>
              <a:r>
                <a:rPr dirty="0"/>
                <a:t> </a:t>
              </a:r>
              <a:r>
                <a:rPr dirty="0" err="1"/>
                <a:t>feltört</a:t>
              </a:r>
              <a:r>
                <a:rPr dirty="0"/>
                <a:t> </a:t>
              </a:r>
              <a:r>
                <a:rPr dirty="0" err="1"/>
                <a:t>ismerős</a:t>
              </a:r>
              <a:r>
                <a:rPr dirty="0"/>
                <a:t> </a:t>
              </a:r>
              <a:r>
                <a:rPr dirty="0" err="1"/>
                <a:t>profiljáról</a:t>
              </a:r>
              <a:r>
                <a:rPr dirty="0"/>
                <a:t> </a:t>
              </a:r>
              <a:r>
                <a:rPr dirty="0" err="1"/>
                <a:t>érkező</a:t>
              </a:r>
              <a:r>
                <a:rPr dirty="0"/>
                <a:t> </a:t>
              </a:r>
              <a:r>
                <a:rPr dirty="0" err="1"/>
                <a:t>gyanús</a:t>
              </a:r>
              <a:r>
                <a:rPr dirty="0"/>
                <a:t> </a:t>
              </a:r>
              <a:r>
                <a:rPr dirty="0" err="1"/>
                <a:t>linkek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Kamu </a:t>
              </a:r>
              <a:r>
                <a:rPr dirty="0" err="1"/>
                <a:t>banki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csomagküldő</a:t>
              </a:r>
              <a:r>
                <a:rPr dirty="0"/>
                <a:t> </a:t>
              </a:r>
              <a:r>
                <a:rPr dirty="0" err="1"/>
                <a:t>értesítések</a:t>
              </a:r>
              <a:r>
                <a:rPr dirty="0"/>
                <a:t> (</a:t>
              </a:r>
              <a:r>
                <a:rPr dirty="0" err="1"/>
                <a:t>adathalász</a:t>
              </a:r>
              <a:r>
                <a:rPr dirty="0"/>
                <a:t> SMS/email).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Mit </a:t>
              </a:r>
              <a:r>
                <a:rPr dirty="0" err="1"/>
                <a:t>tegyünk</a:t>
              </a:r>
              <a:r>
                <a:rPr dirty="0"/>
                <a:t>? </a:t>
              </a:r>
              <a:r>
                <a:rPr dirty="0" err="1"/>
                <a:t>Jelentsük</a:t>
              </a:r>
              <a:r>
                <a:rPr dirty="0"/>
                <a:t> a </a:t>
              </a:r>
              <a:r>
                <a:rPr dirty="0" err="1"/>
                <a:t>profilt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tiltsuk</a:t>
              </a:r>
              <a:r>
                <a:rPr dirty="0"/>
                <a:t> le a </a:t>
              </a:r>
              <a:r>
                <a:rPr dirty="0" err="1"/>
                <a:t>küldőt</a:t>
              </a:r>
              <a:r>
                <a:rPr dirty="0"/>
                <a:t> </a:t>
              </a:r>
              <a:r>
                <a:rPr dirty="0" err="1"/>
                <a:t>azonnal</a:t>
              </a:r>
              <a:r>
                <a:rPr dirty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3080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1534C1-56A7-1687-CA29-A1EE5B2D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403944"/>
            <a:ext cx="9880600" cy="1143000"/>
          </a:xfrm>
        </p:spPr>
        <p:txBody>
          <a:bodyPr>
            <a:normAutofit fontScale="90000"/>
          </a:bodyPr>
          <a:lstStyle/>
          <a:p>
            <a:r>
              <a:rPr lang="hu-HU" dirty="0"/>
              <a:t>7. A 6 Oldalas Digitális Kiadvány (PDF Kisokos)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23962697-9A5E-3A1D-19B3-C01A1A2EA569}"/>
              </a:ext>
            </a:extLst>
          </p:cNvPr>
          <p:cNvGrpSpPr/>
          <p:nvPr/>
        </p:nvGrpSpPr>
        <p:grpSpPr>
          <a:xfrm>
            <a:off x="731520" y="1463040"/>
            <a:ext cx="5120640" cy="4754880"/>
            <a:chOff x="731520" y="1463040"/>
            <a:chExt cx="5120640" cy="475488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24B6321-3B30-D951-2552-DE7AE8CD2B0F}"/>
                </a:ext>
              </a:extLst>
            </p:cNvPr>
            <p:cNvSpPr/>
            <p:nvPr/>
          </p:nvSpPr>
          <p:spPr>
            <a:xfrm>
              <a:off x="7315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EEC73B-AB28-2005-4112-66790A448330}"/>
                </a:ext>
              </a:extLst>
            </p:cNvPr>
            <p:cNvSpPr txBox="1"/>
            <p:nvPr/>
          </p:nvSpPr>
          <p:spPr>
            <a:xfrm>
              <a:off x="960120" y="1645920"/>
              <a:ext cx="4663440" cy="1831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B4D8"/>
                  </a:solidFill>
                </a:defRPr>
              </a:pPr>
              <a:r>
                <a:rPr dirty="0">
                  <a:solidFill>
                    <a:srgbClr val="00B4D8"/>
                  </a:solidFill>
                </a:rPr>
                <a:t>A </a:t>
              </a:r>
              <a:r>
                <a:rPr dirty="0" err="1">
                  <a:solidFill>
                    <a:srgbClr val="00B4D8"/>
                  </a:solidFill>
                </a:rPr>
                <a:t>Kiadvány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Célja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és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Formátuma</a:t>
              </a:r>
              <a:endParaRPr dirty="0">
                <a:solidFill>
                  <a:srgbClr val="00B4D8"/>
                </a:solidFill>
              </a:endParaRP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Önállóan</a:t>
              </a:r>
              <a:r>
                <a:rPr dirty="0"/>
                <a:t> </a:t>
              </a:r>
              <a:r>
                <a:rPr dirty="0" err="1"/>
                <a:t>tanulmányozható</a:t>
              </a:r>
              <a:r>
                <a:rPr dirty="0"/>
                <a:t>, </a:t>
              </a:r>
              <a:r>
                <a:rPr dirty="0" err="1"/>
                <a:t>letölthető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nyomtatható</a:t>
              </a:r>
              <a:r>
                <a:rPr dirty="0"/>
                <a:t> </a:t>
              </a:r>
              <a:r>
                <a:rPr dirty="0" err="1"/>
                <a:t>segédanyag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6 </a:t>
              </a:r>
              <a:r>
                <a:rPr dirty="0" err="1"/>
                <a:t>oldal</a:t>
              </a:r>
              <a:r>
                <a:rPr dirty="0"/>
                <a:t> </a:t>
              </a:r>
              <a:r>
                <a:rPr dirty="0" err="1"/>
                <a:t>terjedelmű</a:t>
              </a:r>
              <a:r>
                <a:rPr dirty="0"/>
                <a:t>, </a:t>
              </a:r>
              <a:r>
                <a:rPr dirty="0" err="1"/>
                <a:t>áttekinthető</a:t>
              </a:r>
              <a:r>
                <a:rPr dirty="0"/>
                <a:t>, modern </a:t>
              </a:r>
              <a:r>
                <a:rPr dirty="0" err="1"/>
                <a:t>illusztrációkkal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Canva </a:t>
              </a:r>
              <a:r>
                <a:rPr dirty="0" err="1"/>
                <a:t>és</a:t>
              </a:r>
              <a:r>
                <a:rPr dirty="0"/>
                <a:t> LibreOffice Writer </a:t>
              </a:r>
              <a:r>
                <a:rPr dirty="0" err="1"/>
                <a:t>segítségével</a:t>
              </a:r>
              <a:r>
                <a:rPr dirty="0"/>
                <a:t> </a:t>
              </a:r>
              <a:r>
                <a:rPr dirty="0" err="1"/>
                <a:t>megalkotott</a:t>
              </a:r>
              <a:r>
                <a:rPr dirty="0"/>
                <a:t> </a:t>
              </a:r>
              <a:r>
                <a:rPr dirty="0" err="1"/>
                <a:t>kiadvány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A </a:t>
              </a:r>
              <a:r>
                <a:rPr dirty="0" err="1"/>
                <a:t>weboldallal</a:t>
              </a:r>
              <a:r>
                <a:rPr dirty="0"/>
                <a:t> </a:t>
              </a:r>
              <a:r>
                <a:rPr dirty="0" err="1"/>
                <a:t>teljesen</a:t>
              </a:r>
              <a:r>
                <a:rPr dirty="0"/>
                <a:t> </a:t>
              </a:r>
              <a:r>
                <a:rPr dirty="0" err="1"/>
                <a:t>harmonizáló</a:t>
              </a:r>
              <a:r>
                <a:rPr dirty="0"/>
                <a:t> </a:t>
              </a:r>
              <a:r>
                <a:rPr dirty="0" err="1"/>
                <a:t>színvilág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tipográfia</a:t>
              </a:r>
              <a:r>
                <a:rPr dirty="0"/>
                <a:t>.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0D601CA7-5985-46FC-227D-E91C760C586B}"/>
              </a:ext>
            </a:extLst>
          </p:cNvPr>
          <p:cNvGrpSpPr/>
          <p:nvPr/>
        </p:nvGrpSpPr>
        <p:grpSpPr>
          <a:xfrm>
            <a:off x="6217920" y="1463040"/>
            <a:ext cx="5120640" cy="4754880"/>
            <a:chOff x="6217920" y="1463040"/>
            <a:chExt cx="5120640" cy="4754880"/>
          </a:xfrm>
        </p:grpSpPr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41BF55E9-CA8F-C4E4-4F3F-01D3369C2DC6}"/>
                </a:ext>
              </a:extLst>
            </p:cNvPr>
            <p:cNvSpPr/>
            <p:nvPr/>
          </p:nvSpPr>
          <p:spPr>
            <a:xfrm>
              <a:off x="62179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A17663F0-9055-C20B-2314-B92FD8137906}"/>
                </a:ext>
              </a:extLst>
            </p:cNvPr>
            <p:cNvSpPr txBox="1"/>
            <p:nvPr/>
          </p:nvSpPr>
          <p:spPr>
            <a:xfrm>
              <a:off x="6446520" y="1645920"/>
              <a:ext cx="4663440" cy="2236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0077B6"/>
                  </a:solidFill>
                </a:defRPr>
              </a:pPr>
              <a:r>
                <a:rPr dirty="0" err="1">
                  <a:solidFill>
                    <a:srgbClr val="00B4D8"/>
                  </a:solidFill>
                </a:rPr>
                <a:t>Oldalankénti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Tartalomjegyzék</a:t>
              </a:r>
              <a:endParaRPr dirty="0">
                <a:solidFill>
                  <a:srgbClr val="00B4D8"/>
                </a:solidFill>
              </a:endParaRP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1. </a:t>
              </a:r>
              <a:r>
                <a:rPr dirty="0" err="1"/>
                <a:t>oldal</a:t>
              </a:r>
              <a:r>
                <a:rPr dirty="0"/>
                <a:t>: </a:t>
              </a:r>
              <a:r>
                <a:rPr dirty="0" err="1"/>
                <a:t>Címlap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a </a:t>
              </a:r>
              <a:r>
                <a:rPr dirty="0" err="1"/>
                <a:t>projekt</a:t>
              </a:r>
              <a:r>
                <a:rPr dirty="0"/>
                <a:t> </a:t>
              </a:r>
              <a:r>
                <a:rPr dirty="0" err="1"/>
                <a:t>mottója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2. </a:t>
              </a:r>
              <a:r>
                <a:rPr dirty="0" err="1"/>
                <a:t>oldal</a:t>
              </a:r>
              <a:r>
                <a:rPr dirty="0"/>
                <a:t>: Erős </a:t>
              </a:r>
              <a:r>
                <a:rPr dirty="0" err="1"/>
                <a:t>jelszavak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jelmondatok</a:t>
              </a:r>
              <a:r>
                <a:rPr dirty="0"/>
                <a:t> </a:t>
              </a:r>
              <a:r>
                <a:rPr dirty="0" err="1"/>
                <a:t>készítése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3. </a:t>
              </a:r>
              <a:r>
                <a:rPr dirty="0" err="1"/>
                <a:t>oldal</a:t>
              </a:r>
              <a:r>
                <a:rPr dirty="0"/>
                <a:t>: </a:t>
              </a:r>
              <a:r>
                <a:rPr dirty="0" err="1"/>
                <a:t>Adathalász</a:t>
              </a:r>
              <a:r>
                <a:rPr dirty="0"/>
                <a:t> </a:t>
              </a:r>
              <a:r>
                <a:rPr dirty="0" err="1"/>
                <a:t>üzenetek</a:t>
              </a:r>
              <a:r>
                <a:rPr dirty="0"/>
                <a:t> </a:t>
              </a:r>
              <a:r>
                <a:rPr dirty="0" err="1"/>
                <a:t>felismerési</a:t>
              </a:r>
              <a:r>
                <a:rPr dirty="0"/>
                <a:t> </a:t>
              </a:r>
              <a:r>
                <a:rPr dirty="0" err="1"/>
                <a:t>útmutatója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4. </a:t>
              </a:r>
              <a:r>
                <a:rPr dirty="0" err="1"/>
                <a:t>oldal</a:t>
              </a:r>
              <a:r>
                <a:rPr dirty="0"/>
                <a:t>: Gamer </a:t>
              </a:r>
              <a:r>
                <a:rPr dirty="0" err="1"/>
                <a:t>biztonság</a:t>
              </a:r>
              <a:r>
                <a:rPr dirty="0"/>
                <a:t> (Steam </a:t>
              </a:r>
              <a:r>
                <a:rPr dirty="0" err="1"/>
                <a:t>és</a:t>
              </a:r>
              <a:r>
                <a:rPr dirty="0"/>
                <a:t> Discord </a:t>
              </a:r>
              <a:r>
                <a:rPr dirty="0" err="1"/>
                <a:t>fiókok</a:t>
              </a:r>
              <a:r>
                <a:rPr dirty="0"/>
                <a:t> </a:t>
              </a:r>
              <a:r>
                <a:rPr dirty="0" err="1"/>
                <a:t>védelme</a:t>
              </a:r>
              <a:r>
                <a:rPr dirty="0"/>
                <a:t>).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5. </a:t>
              </a:r>
              <a:r>
                <a:rPr dirty="0" err="1"/>
                <a:t>oldal</a:t>
              </a:r>
              <a:r>
                <a:rPr dirty="0"/>
                <a:t>: </a:t>
              </a:r>
              <a:r>
                <a:rPr dirty="0" err="1"/>
                <a:t>Digitális</a:t>
              </a:r>
              <a:r>
                <a:rPr dirty="0"/>
                <a:t> </a:t>
              </a:r>
              <a:r>
                <a:rPr dirty="0" err="1"/>
                <a:t>lábnyom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közösségi</a:t>
              </a:r>
              <a:r>
                <a:rPr dirty="0"/>
                <a:t> </a:t>
              </a:r>
              <a:r>
                <a:rPr dirty="0" err="1"/>
                <a:t>média</a:t>
              </a:r>
              <a:r>
                <a:rPr dirty="0"/>
                <a:t> </a:t>
              </a:r>
              <a:r>
                <a:rPr dirty="0" err="1"/>
                <a:t>beállítások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6. </a:t>
              </a:r>
              <a:r>
                <a:rPr dirty="0" err="1"/>
                <a:t>oldal</a:t>
              </a:r>
              <a:r>
                <a:rPr dirty="0"/>
                <a:t>: </a:t>
              </a:r>
              <a:r>
                <a:rPr dirty="0" err="1"/>
                <a:t>Vészhelyzeti</a:t>
              </a:r>
              <a:r>
                <a:rPr dirty="0"/>
                <a:t> </a:t>
              </a:r>
              <a:r>
                <a:rPr dirty="0" err="1"/>
                <a:t>teendők</a:t>
              </a:r>
              <a:r>
                <a:rPr dirty="0"/>
                <a:t> </a:t>
              </a:r>
              <a:r>
                <a:rPr dirty="0" err="1"/>
                <a:t>fiókfeltörés</a:t>
              </a:r>
              <a:r>
                <a:rPr dirty="0"/>
                <a:t> </a:t>
              </a:r>
              <a:r>
                <a:rPr dirty="0" err="1"/>
                <a:t>esetén</a:t>
              </a:r>
              <a:r>
                <a:rPr dirty="0"/>
                <a:t> &amp; </a:t>
              </a:r>
              <a:r>
                <a:rPr dirty="0" err="1"/>
                <a:t>Források</a:t>
              </a:r>
              <a:r>
                <a:rPr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4036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8BBD51-4D72-0EB2-203D-9D5B9AD0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050" y="403944"/>
            <a:ext cx="10375900" cy="1143000"/>
          </a:xfrm>
        </p:spPr>
        <p:txBody>
          <a:bodyPr>
            <a:normAutofit fontScale="90000"/>
          </a:bodyPr>
          <a:lstStyle/>
          <a:p>
            <a:r>
              <a:rPr lang="hu-HU" dirty="0"/>
              <a:t>8. Fejlesztési Kihívások és Technikai Megoldások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C35B4EEC-A103-7F19-23D6-A7210CA7ACE7}"/>
              </a:ext>
            </a:extLst>
          </p:cNvPr>
          <p:cNvGrpSpPr/>
          <p:nvPr/>
        </p:nvGrpSpPr>
        <p:grpSpPr>
          <a:xfrm>
            <a:off x="731520" y="1463040"/>
            <a:ext cx="5120640" cy="4754880"/>
            <a:chOff x="731520" y="1463040"/>
            <a:chExt cx="5120640" cy="475488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8AC81F4-ED3B-828D-66A4-F470B0C675F5}"/>
                </a:ext>
              </a:extLst>
            </p:cNvPr>
            <p:cNvSpPr/>
            <p:nvPr/>
          </p:nvSpPr>
          <p:spPr>
            <a:xfrm>
              <a:off x="7315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9FC0CF-3CE9-4B5C-7EA6-736060C856FF}"/>
                </a:ext>
              </a:extLst>
            </p:cNvPr>
            <p:cNvSpPr txBox="1"/>
            <p:nvPr/>
          </p:nvSpPr>
          <p:spPr>
            <a:xfrm>
              <a:off x="960120" y="1645920"/>
              <a:ext cx="4663440" cy="1831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E11D48"/>
                  </a:solidFill>
                </a:defRPr>
              </a:pPr>
              <a:r>
                <a:rPr dirty="0" err="1">
                  <a:solidFill>
                    <a:srgbClr val="00B4D8"/>
                  </a:solidFill>
                </a:rPr>
                <a:t>Felmerült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Problémák</a:t>
              </a:r>
              <a:endParaRPr dirty="0">
                <a:solidFill>
                  <a:srgbClr val="00B4D8"/>
                </a:solidFill>
              </a:endParaRP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Reszponzív</a:t>
              </a:r>
              <a:r>
                <a:rPr dirty="0"/>
                <a:t> </a:t>
              </a:r>
              <a:r>
                <a:rPr dirty="0" err="1"/>
                <a:t>menü</a:t>
              </a:r>
              <a:r>
                <a:rPr dirty="0"/>
                <a:t> </a:t>
              </a:r>
              <a:r>
                <a:rPr dirty="0" err="1"/>
                <a:t>hiba</a:t>
              </a:r>
              <a:r>
                <a:rPr dirty="0"/>
                <a:t>: a Bootstrap hamburger </a:t>
              </a:r>
              <a:r>
                <a:rPr dirty="0" err="1"/>
                <a:t>menü</a:t>
              </a:r>
              <a:r>
                <a:rPr dirty="0"/>
                <a:t> nem </a:t>
              </a:r>
              <a:r>
                <a:rPr dirty="0" err="1"/>
                <a:t>nyílt</a:t>
              </a:r>
              <a:r>
                <a:rPr dirty="0"/>
                <a:t> le.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Kártyaelrendezés</a:t>
              </a:r>
              <a:r>
                <a:rPr dirty="0"/>
                <a:t> </a:t>
              </a:r>
              <a:r>
                <a:rPr dirty="0" err="1"/>
                <a:t>szétcsúszása</a:t>
              </a:r>
              <a:r>
                <a:rPr dirty="0"/>
                <a:t> </a:t>
              </a:r>
              <a:r>
                <a:rPr dirty="0" err="1"/>
                <a:t>eltérő</a:t>
              </a:r>
              <a:r>
                <a:rPr dirty="0"/>
                <a:t> </a:t>
              </a:r>
              <a:r>
                <a:rPr dirty="0" err="1"/>
                <a:t>szöveghosszúság</a:t>
              </a:r>
              <a:r>
                <a:rPr dirty="0"/>
                <a:t> </a:t>
              </a:r>
              <a:r>
                <a:rPr dirty="0" err="1"/>
                <a:t>esetén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Arculati</a:t>
              </a:r>
              <a:r>
                <a:rPr dirty="0"/>
                <a:t> </a:t>
              </a:r>
              <a:r>
                <a:rPr dirty="0" err="1"/>
                <a:t>eltérések</a:t>
              </a:r>
              <a:r>
                <a:rPr dirty="0"/>
                <a:t> a </a:t>
              </a:r>
              <a:r>
                <a:rPr dirty="0" err="1"/>
                <a:t>weboldal</a:t>
              </a:r>
              <a:r>
                <a:rPr dirty="0"/>
                <a:t>, </a:t>
              </a:r>
              <a:r>
                <a:rPr dirty="0" err="1"/>
                <a:t>prezentáció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kiadvány</a:t>
              </a:r>
              <a:r>
                <a:rPr dirty="0"/>
                <a:t> </a:t>
              </a:r>
              <a:r>
                <a:rPr dirty="0" err="1"/>
                <a:t>között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Kezdeti</a:t>
              </a:r>
              <a:r>
                <a:rPr dirty="0"/>
                <a:t> </a:t>
              </a:r>
              <a:r>
                <a:rPr dirty="0" err="1"/>
                <a:t>verziókezelési</a:t>
              </a:r>
              <a:r>
                <a:rPr dirty="0"/>
                <a:t> merge-</a:t>
              </a:r>
              <a:r>
                <a:rPr dirty="0" err="1"/>
                <a:t>konfliktusok</a:t>
              </a:r>
              <a:r>
                <a:rPr dirty="0"/>
                <a:t> a </a:t>
              </a:r>
              <a:r>
                <a:rPr dirty="0" err="1"/>
                <a:t>GitHubon</a:t>
              </a:r>
              <a:r>
                <a:rPr dirty="0"/>
                <a:t>.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F4182E02-FFC9-530A-537A-ECF88EC280F3}"/>
              </a:ext>
            </a:extLst>
          </p:cNvPr>
          <p:cNvGrpSpPr/>
          <p:nvPr/>
        </p:nvGrpSpPr>
        <p:grpSpPr>
          <a:xfrm>
            <a:off x="6217920" y="1463040"/>
            <a:ext cx="5120640" cy="4754880"/>
            <a:chOff x="6217920" y="1463040"/>
            <a:chExt cx="5120640" cy="4754880"/>
          </a:xfrm>
        </p:grpSpPr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74C07A88-C340-126F-DC00-29BADD46597C}"/>
                </a:ext>
              </a:extLst>
            </p:cNvPr>
            <p:cNvSpPr/>
            <p:nvPr/>
          </p:nvSpPr>
          <p:spPr>
            <a:xfrm>
              <a:off x="6217920" y="1463040"/>
              <a:ext cx="5120640" cy="475488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D5E88E10-2820-1EE3-9683-E6BAE6D56114}"/>
                </a:ext>
              </a:extLst>
            </p:cNvPr>
            <p:cNvSpPr txBox="1"/>
            <p:nvPr/>
          </p:nvSpPr>
          <p:spPr>
            <a:xfrm>
              <a:off x="6446520" y="1645920"/>
              <a:ext cx="4663440" cy="1831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800" b="1">
                  <a:solidFill>
                    <a:srgbClr val="10B981"/>
                  </a:solidFill>
                </a:defRPr>
              </a:pPr>
              <a:r>
                <a:rPr dirty="0" err="1">
                  <a:solidFill>
                    <a:srgbClr val="00B4D8"/>
                  </a:solidFill>
                </a:rPr>
                <a:t>Alkalmazott</a:t>
              </a:r>
              <a:r>
                <a:rPr dirty="0">
                  <a:solidFill>
                    <a:srgbClr val="00B4D8"/>
                  </a:solidFill>
                </a:rPr>
                <a:t> </a:t>
              </a:r>
              <a:r>
                <a:rPr dirty="0" err="1">
                  <a:solidFill>
                    <a:srgbClr val="00B4D8"/>
                  </a:solidFill>
                </a:rPr>
                <a:t>Megoldások</a:t>
              </a:r>
              <a:endParaRPr dirty="0">
                <a:solidFill>
                  <a:srgbClr val="00B4D8"/>
                </a:solidFill>
              </a:endParaRP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Bootstrap JS Bundle </a:t>
              </a:r>
              <a:r>
                <a:rPr dirty="0" err="1"/>
                <a:t>szkript</a:t>
              </a:r>
              <a:r>
                <a:rPr dirty="0"/>
                <a:t> </a:t>
              </a:r>
              <a:r>
                <a:rPr dirty="0" err="1"/>
                <a:t>integrálása</a:t>
              </a:r>
              <a:r>
                <a:rPr dirty="0"/>
                <a:t> a </a:t>
              </a:r>
              <a:r>
                <a:rPr dirty="0" err="1"/>
                <a:t>navigációhoz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Flexbox </a:t>
              </a:r>
              <a:r>
                <a:rPr dirty="0" err="1"/>
                <a:t>segédosztályok</a:t>
              </a:r>
              <a:r>
                <a:rPr dirty="0"/>
                <a:t> (h-100, d-flex) a </a:t>
              </a:r>
              <a:r>
                <a:rPr dirty="0" err="1"/>
                <a:t>kártyák</a:t>
              </a:r>
              <a:r>
                <a:rPr dirty="0"/>
                <a:t> </a:t>
              </a:r>
              <a:r>
                <a:rPr dirty="0" err="1"/>
                <a:t>igazítására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Egységes</a:t>
              </a:r>
              <a:r>
                <a:rPr dirty="0"/>
                <a:t> </a:t>
              </a:r>
              <a:r>
                <a:rPr dirty="0" err="1"/>
                <a:t>hexadecimális</a:t>
              </a:r>
              <a:r>
                <a:rPr dirty="0"/>
                <a:t> </a:t>
              </a:r>
              <a:r>
                <a:rPr dirty="0" err="1"/>
                <a:t>színpaletta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</a:t>
              </a:r>
              <a:r>
                <a:rPr dirty="0" err="1"/>
                <a:t>betűtípus-szabályozás</a:t>
              </a:r>
              <a:r>
                <a:rPr dirty="0"/>
                <a:t>.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E293B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Különálló</a:t>
              </a:r>
              <a:r>
                <a:rPr dirty="0"/>
                <a:t> Git feature-branch </a:t>
              </a:r>
              <a:r>
                <a:rPr dirty="0" err="1"/>
                <a:t>ágak</a:t>
              </a:r>
              <a:r>
                <a:rPr dirty="0"/>
                <a:t> </a:t>
              </a:r>
              <a:r>
                <a:rPr dirty="0" err="1"/>
                <a:t>bevezetése</a:t>
              </a:r>
              <a:r>
                <a:rPr dirty="0"/>
                <a:t> </a:t>
              </a:r>
              <a:r>
                <a:rPr dirty="0" err="1"/>
                <a:t>és</a:t>
              </a:r>
              <a:r>
                <a:rPr dirty="0"/>
                <a:t> Discord </a:t>
              </a:r>
              <a:r>
                <a:rPr dirty="0" err="1"/>
                <a:t>egyeztetés</a:t>
              </a:r>
              <a:r>
                <a:rPr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67373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94DC74-B645-9413-372E-0DBA03DC84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518BC89-2B62-2273-DD92-D4280C293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282" y="3233750"/>
            <a:ext cx="9076700" cy="1752600"/>
          </a:xfrm>
        </p:spPr>
        <p:txBody>
          <a:bodyPr>
            <a:normAutofit/>
          </a:bodyPr>
          <a:lstStyle/>
          <a:p>
            <a:r>
              <a:rPr lang="hu-HU" sz="1800" dirty="0"/>
              <a:t>• Weboldal: 4 reszponzív HTML aloldal </a:t>
            </a:r>
            <a:r>
              <a:rPr lang="hu-HU" sz="1800" dirty="0" err="1"/>
              <a:t>Bootstrap</a:t>
            </a:r>
            <a:r>
              <a:rPr lang="hu-HU" sz="1800" dirty="0"/>
              <a:t> 5 alapon</a:t>
            </a:r>
            <a:br>
              <a:rPr lang="hu-HU" sz="1800" dirty="0"/>
            </a:br>
            <a:r>
              <a:rPr lang="hu-HU" sz="1800" dirty="0"/>
              <a:t>• Digitális kiadvány: 6 oldalas illusztrált PDF</a:t>
            </a:r>
            <a:br>
              <a:rPr lang="hu-HU" sz="1800" dirty="0"/>
            </a:br>
            <a:r>
              <a:rPr lang="hu-HU" sz="1800" dirty="0"/>
              <a:t>• GitHub: </a:t>
            </a:r>
            <a:r>
              <a:rPr lang="hu-HU" sz="1800" dirty="0">
                <a:hlinkClick r:id="rId2"/>
              </a:rPr>
              <a:t>https://github.com/DanMeisz/Kiberbiztonsag-fiataloknak</a:t>
            </a:r>
            <a:endParaRPr lang="hu-HU" sz="1800" dirty="0"/>
          </a:p>
          <a:p>
            <a:r>
              <a:rPr lang="hu-HU" sz="1800" dirty="0">
                <a:solidFill>
                  <a:schemeClr val="bg1"/>
                </a:solidFill>
              </a:rPr>
              <a:t>Készítette: Magyar Bálint, Csatlós Maja, </a:t>
            </a:r>
            <a:r>
              <a:rPr lang="hu-HU" sz="1800" dirty="0" err="1">
                <a:solidFill>
                  <a:schemeClr val="bg1"/>
                </a:solidFill>
              </a:rPr>
              <a:t>Meiszterics</a:t>
            </a:r>
            <a:r>
              <a:rPr lang="hu-HU" sz="1800" dirty="0">
                <a:solidFill>
                  <a:schemeClr val="bg1"/>
                </a:solidFill>
              </a:rPr>
              <a:t> Dániel</a:t>
            </a:r>
          </a:p>
        </p:txBody>
      </p:sp>
    </p:spTree>
    <p:extLst>
      <p:ext uri="{BB962C8B-B14F-4D97-AF65-F5344CB8AC3E}">
        <p14:creationId xmlns:p14="http://schemas.microsoft.com/office/powerpoint/2010/main" val="217118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/>
      </p:transition>
    </mc:Choice>
    <mc:Fallback xmlns="">
      <p:transition spd="slow">
        <p:cov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960</Words>
  <Application>Microsoft Office PowerPoint</Application>
  <PresentationFormat>Szélesvásznú</PresentationFormat>
  <Paragraphs>112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NetBiztos Kiberbiztonság és Digitális Tudatosság Fiataloknak</vt:lpstr>
      <vt:lpstr>1. A Projekt Célja és Célközönsége</vt:lpstr>
      <vt:lpstr>2. Csoporttagok és Feladatmegosztás</vt:lpstr>
      <vt:lpstr>3. Szakmai Források és Képanyagok</vt:lpstr>
      <vt:lpstr>4. A NetBiztos Weboldal Felépítése (4 Aloldal)</vt:lpstr>
      <vt:lpstr>5. Szakmai Fókusz: Jelszavak és Kétlépcsős Védelem</vt:lpstr>
      <vt:lpstr>6. Szakmai Fókusz: Adathalászat és Csalások</vt:lpstr>
      <vt:lpstr>7. A 6 Oldalas Digitális Kiadvány (PDF Kisokos)</vt:lpstr>
      <vt:lpstr>8. Fejlesztési Kihívások és Technikai Megoldások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Maja Csatlós</cp:lastModifiedBy>
  <cp:revision>21</cp:revision>
  <dcterms:created xsi:type="dcterms:W3CDTF">2013-01-27T09:14:16Z</dcterms:created>
  <dcterms:modified xsi:type="dcterms:W3CDTF">2026-08-27T00:19:31Z</dcterms:modified>
  <cp:category/>
</cp:coreProperties>
</file>